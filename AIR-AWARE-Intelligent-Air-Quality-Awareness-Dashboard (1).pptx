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68" r:id="rId3"/>
    <p:sldId id="257" r:id="rId4"/>
    <p:sldId id="258" r:id="rId5"/>
    <p:sldId id="272" r:id="rId6"/>
    <p:sldId id="260" r:id="rId7"/>
    <p:sldId id="261" r:id="rId8"/>
    <p:sldId id="259" r:id="rId9"/>
    <p:sldId id="262" r:id="rId10"/>
    <p:sldId id="263" r:id="rId11"/>
    <p:sldId id="264" r:id="rId12"/>
    <p:sldId id="266" r:id="rId13"/>
    <p:sldId id="267" r:id="rId14"/>
  </p:sldIdLst>
  <p:sldSz cx="18288000" cy="10287000"/>
  <p:notesSz cx="6858000" cy="9144000"/>
  <p:embeddedFontLst>
    <p:embeddedFont>
      <p:font typeface="Museo Moderno Bold" panose="020B0604020202020204" charset="0"/>
      <p:regular r:id="rId16"/>
    </p:embeddedFont>
    <p:embeddedFont>
      <p:font typeface="Museo Moderno Medium" panose="020B0604020202020204" charset="0"/>
      <p:regular r:id="rId17"/>
    </p:embeddedFont>
    <p:embeddedFont>
      <p:font typeface="Source Sans 3" panose="020B0604020202020204" charset="0"/>
      <p:regular r:id="rId18"/>
    </p:embeddedFont>
    <p:embeddedFont>
      <p:font typeface="Source Sans 3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82" y="2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Patel" userId="20e87105db02a3b9" providerId="LiveId" clId="{A07B5FEF-9E22-4816-94AC-AEB62AF44098}"/>
    <pc:docChg chg="custSel modSld">
      <pc:chgData name="Aryan Patel" userId="20e87105db02a3b9" providerId="LiveId" clId="{A07B5FEF-9E22-4816-94AC-AEB62AF44098}" dt="2026-02-11T08:24:14.071" v="43" actId="255"/>
      <pc:docMkLst>
        <pc:docMk/>
      </pc:docMkLst>
      <pc:sldChg chg="modSp mod">
        <pc:chgData name="Aryan Patel" userId="20e87105db02a3b9" providerId="LiveId" clId="{A07B5FEF-9E22-4816-94AC-AEB62AF44098}" dt="2026-02-11T08:24:14.071" v="43" actId="255"/>
        <pc:sldMkLst>
          <pc:docMk/>
          <pc:sldMk cId="0" sldId="257"/>
        </pc:sldMkLst>
        <pc:spChg chg="mod">
          <ac:chgData name="Aryan Patel" userId="20e87105db02a3b9" providerId="LiveId" clId="{A07B5FEF-9E22-4816-94AC-AEB62AF44098}" dt="2026-02-11T08:17:25.394" v="14" actId="1035"/>
          <ac:spMkLst>
            <pc:docMk/>
            <pc:sldMk cId="0" sldId="257"/>
            <ac:spMk id="5" creationId="{00000000-0000-0000-0000-000000000000}"/>
          </ac:spMkLst>
        </pc:spChg>
        <pc:spChg chg="mod">
          <ac:chgData name="Aryan Patel" userId="20e87105db02a3b9" providerId="LiveId" clId="{A07B5FEF-9E22-4816-94AC-AEB62AF44098}" dt="2026-02-11T08:17:16.023" v="12" actId="14100"/>
          <ac:spMkLst>
            <pc:docMk/>
            <pc:sldMk cId="0" sldId="257"/>
            <ac:spMk id="8" creationId="{00000000-0000-0000-0000-000000000000}"/>
          </ac:spMkLst>
        </pc:spChg>
        <pc:spChg chg="mod">
          <ac:chgData name="Aryan Patel" userId="20e87105db02a3b9" providerId="LiveId" clId="{A07B5FEF-9E22-4816-94AC-AEB62AF44098}" dt="2026-02-11T08:24:14.071" v="43" actId="255"/>
          <ac:spMkLst>
            <pc:docMk/>
            <pc:sldMk cId="0" sldId="257"/>
            <ac:spMk id="12" creationId="{00000000-0000-0000-0000-000000000000}"/>
          </ac:spMkLst>
        </pc:spChg>
        <pc:grpChg chg="mod">
          <ac:chgData name="Aryan Patel" userId="20e87105db02a3b9" providerId="LiveId" clId="{A07B5FEF-9E22-4816-94AC-AEB62AF44098}" dt="2026-02-11T08:17:32.629" v="15" actId="1035"/>
          <ac:grpSpMkLst>
            <pc:docMk/>
            <pc:sldMk cId="0" sldId="257"/>
            <ac:grpSpMk id="4" creationId="{00000000-0000-0000-0000-000000000000}"/>
          </ac:grpSpMkLst>
        </pc:grpChg>
        <pc:grpChg chg="mod">
          <ac:chgData name="Aryan Patel" userId="20e87105db02a3b9" providerId="LiveId" clId="{A07B5FEF-9E22-4816-94AC-AEB62AF44098}" dt="2026-02-11T08:17:07.561" v="11" actId="14100"/>
          <ac:grpSpMkLst>
            <pc:docMk/>
            <pc:sldMk cId="0" sldId="257"/>
            <ac:grpSpMk id="6" creationId="{00000000-0000-0000-0000-000000000000}"/>
          </ac:grpSpMkLst>
        </pc:grpChg>
      </pc:sldChg>
      <pc:sldChg chg="modSp mod">
        <pc:chgData name="Aryan Patel" userId="20e87105db02a3b9" providerId="LiveId" clId="{A07B5FEF-9E22-4816-94AC-AEB62AF44098}" dt="2026-02-11T08:18:39.080" v="21" actId="1076"/>
        <pc:sldMkLst>
          <pc:docMk/>
          <pc:sldMk cId="0" sldId="258"/>
        </pc:sldMkLst>
        <pc:spChg chg="mod">
          <ac:chgData name="Aryan Patel" userId="20e87105db02a3b9" providerId="LiveId" clId="{A07B5FEF-9E22-4816-94AC-AEB62AF44098}" dt="2026-02-11T08:17:43.282" v="16" actId="20577"/>
          <ac:spMkLst>
            <pc:docMk/>
            <pc:sldMk cId="0" sldId="258"/>
            <ac:spMk id="5" creationId="{00000000-0000-0000-0000-000000000000}"/>
          </ac:spMkLst>
        </pc:spChg>
        <pc:spChg chg="mod">
          <ac:chgData name="Aryan Patel" userId="20e87105db02a3b9" providerId="LiveId" clId="{A07B5FEF-9E22-4816-94AC-AEB62AF44098}" dt="2026-02-11T08:18:03.069" v="18" actId="1076"/>
          <ac:spMkLst>
            <pc:docMk/>
            <pc:sldMk cId="0" sldId="258"/>
            <ac:spMk id="8" creationId="{00000000-0000-0000-0000-000000000000}"/>
          </ac:spMkLst>
        </pc:spChg>
        <pc:spChg chg="mod">
          <ac:chgData name="Aryan Patel" userId="20e87105db02a3b9" providerId="LiveId" clId="{A07B5FEF-9E22-4816-94AC-AEB62AF44098}" dt="2026-02-11T08:18:14.288" v="19" actId="14100"/>
          <ac:spMkLst>
            <pc:docMk/>
            <pc:sldMk cId="0" sldId="258"/>
            <ac:spMk id="9" creationId="{00000000-0000-0000-0000-000000000000}"/>
          </ac:spMkLst>
        </pc:spChg>
        <pc:spChg chg="mod">
          <ac:chgData name="Aryan Patel" userId="20e87105db02a3b9" providerId="LiveId" clId="{A07B5FEF-9E22-4816-94AC-AEB62AF44098}" dt="2026-02-11T08:18:26.849" v="20" actId="14100"/>
          <ac:spMkLst>
            <pc:docMk/>
            <pc:sldMk cId="0" sldId="258"/>
            <ac:spMk id="16" creationId="{00000000-0000-0000-0000-000000000000}"/>
          </ac:spMkLst>
        </pc:spChg>
        <pc:spChg chg="mod">
          <ac:chgData name="Aryan Patel" userId="20e87105db02a3b9" providerId="LiveId" clId="{A07B5FEF-9E22-4816-94AC-AEB62AF44098}" dt="2026-02-11T08:18:39.080" v="21" actId="1076"/>
          <ac:spMkLst>
            <pc:docMk/>
            <pc:sldMk cId="0" sldId="258"/>
            <ac:spMk id="17" creationId="{00000000-0000-0000-0000-000000000000}"/>
          </ac:spMkLst>
        </pc:spChg>
      </pc:sldChg>
      <pc:sldChg chg="delSp modSp mod">
        <pc:chgData name="Aryan Patel" userId="20e87105db02a3b9" providerId="LiveId" clId="{A07B5FEF-9E22-4816-94AC-AEB62AF44098}" dt="2026-02-11T08:19:34.666" v="24" actId="21"/>
        <pc:sldMkLst>
          <pc:docMk/>
          <pc:sldMk cId="0" sldId="259"/>
        </pc:sldMkLst>
        <pc:spChg chg="del mod">
          <ac:chgData name="Aryan Patel" userId="20e87105db02a3b9" providerId="LiveId" clId="{A07B5FEF-9E22-4816-94AC-AEB62AF44098}" dt="2026-02-11T08:19:34.666" v="24" actId="21"/>
          <ac:spMkLst>
            <pc:docMk/>
            <pc:sldMk cId="0" sldId="259"/>
            <ac:spMk id="8" creationId="{00000000-0000-0000-0000-000000000000}"/>
          </ac:spMkLst>
        </pc:spChg>
        <pc:spChg chg="mod">
          <ac:chgData name="Aryan Patel" userId="20e87105db02a3b9" providerId="LiveId" clId="{A07B5FEF-9E22-4816-94AC-AEB62AF44098}" dt="2026-02-11T08:19:03.261" v="22" actId="14100"/>
          <ac:spMkLst>
            <pc:docMk/>
            <pc:sldMk cId="0" sldId="259"/>
            <ac:spMk id="9" creationId="{00000000-0000-0000-0000-000000000000}"/>
          </ac:spMkLst>
        </pc:spChg>
      </pc:sldChg>
      <pc:sldChg chg="modSp mod">
        <pc:chgData name="Aryan Patel" userId="20e87105db02a3b9" providerId="LiveId" clId="{A07B5FEF-9E22-4816-94AC-AEB62AF44098}" dt="2026-02-11T08:20:07.634" v="27" actId="1076"/>
        <pc:sldMkLst>
          <pc:docMk/>
          <pc:sldMk cId="0" sldId="261"/>
        </pc:sldMkLst>
        <pc:spChg chg="mod">
          <ac:chgData name="Aryan Patel" userId="20e87105db02a3b9" providerId="LiveId" clId="{A07B5FEF-9E22-4816-94AC-AEB62AF44098}" dt="2026-02-11T08:20:07.634" v="27" actId="1076"/>
          <ac:spMkLst>
            <pc:docMk/>
            <pc:sldMk cId="0" sldId="261"/>
            <ac:spMk id="11" creationId="{00000000-0000-0000-0000-000000000000}"/>
          </ac:spMkLst>
        </pc:spChg>
        <pc:spChg chg="mod">
          <ac:chgData name="Aryan Patel" userId="20e87105db02a3b9" providerId="LiveId" clId="{A07B5FEF-9E22-4816-94AC-AEB62AF44098}" dt="2026-02-11T08:19:51.257" v="25" actId="14100"/>
          <ac:spMkLst>
            <pc:docMk/>
            <pc:sldMk cId="0" sldId="261"/>
            <ac:spMk id="20" creationId="{00000000-0000-0000-0000-000000000000}"/>
          </ac:spMkLst>
        </pc:spChg>
      </pc:sldChg>
      <pc:sldChg chg="modSp mod">
        <pc:chgData name="Aryan Patel" userId="20e87105db02a3b9" providerId="LiveId" clId="{A07B5FEF-9E22-4816-94AC-AEB62AF44098}" dt="2026-02-11T08:20:42.155" v="28" actId="255"/>
        <pc:sldMkLst>
          <pc:docMk/>
          <pc:sldMk cId="0" sldId="262"/>
        </pc:sldMkLst>
        <pc:spChg chg="mod">
          <ac:chgData name="Aryan Patel" userId="20e87105db02a3b9" providerId="LiveId" clId="{A07B5FEF-9E22-4816-94AC-AEB62AF44098}" dt="2026-02-11T08:16:27.174" v="6" actId="1076"/>
          <ac:spMkLst>
            <pc:docMk/>
            <pc:sldMk cId="0" sldId="262"/>
            <ac:spMk id="9" creationId="{00000000-0000-0000-0000-000000000000}"/>
          </ac:spMkLst>
        </pc:spChg>
        <pc:spChg chg="mod">
          <ac:chgData name="Aryan Patel" userId="20e87105db02a3b9" providerId="LiveId" clId="{A07B5FEF-9E22-4816-94AC-AEB62AF44098}" dt="2026-02-11T08:15:24.555" v="0" actId="1076"/>
          <ac:spMkLst>
            <pc:docMk/>
            <pc:sldMk cId="0" sldId="262"/>
            <ac:spMk id="11" creationId="{00000000-0000-0000-0000-000000000000}"/>
          </ac:spMkLst>
        </pc:spChg>
        <pc:spChg chg="mod">
          <ac:chgData name="Aryan Patel" userId="20e87105db02a3b9" providerId="LiveId" clId="{A07B5FEF-9E22-4816-94AC-AEB62AF44098}" dt="2026-02-11T08:20:42.155" v="28" actId="255"/>
          <ac:spMkLst>
            <pc:docMk/>
            <pc:sldMk cId="0" sldId="262"/>
            <ac:spMk id="12" creationId="{00000000-0000-0000-0000-000000000000}"/>
          </ac:spMkLst>
        </pc:spChg>
        <pc:spChg chg="mod">
          <ac:chgData name="Aryan Patel" userId="20e87105db02a3b9" providerId="LiveId" clId="{A07B5FEF-9E22-4816-94AC-AEB62AF44098}" dt="2026-02-11T08:15:49.020" v="3" actId="14100"/>
          <ac:spMkLst>
            <pc:docMk/>
            <pc:sldMk cId="0" sldId="262"/>
            <ac:spMk id="28" creationId="{00000000-0000-0000-0000-000000000000}"/>
          </ac:spMkLst>
        </pc:spChg>
        <pc:spChg chg="mod">
          <ac:chgData name="Aryan Patel" userId="20e87105db02a3b9" providerId="LiveId" clId="{A07B5FEF-9E22-4816-94AC-AEB62AF44098}" dt="2026-02-11T08:15:43.749" v="2" actId="14100"/>
          <ac:spMkLst>
            <pc:docMk/>
            <pc:sldMk cId="0" sldId="262"/>
            <ac:spMk id="35" creationId="{00000000-0000-0000-0000-000000000000}"/>
          </ac:spMkLst>
        </pc:spChg>
        <pc:grpChg chg="mod">
          <ac:chgData name="Aryan Patel" userId="20e87105db02a3b9" providerId="LiveId" clId="{A07B5FEF-9E22-4816-94AC-AEB62AF44098}" dt="2026-02-11T08:15:34.572" v="1" actId="1076"/>
          <ac:grpSpMkLst>
            <pc:docMk/>
            <pc:sldMk cId="0" sldId="262"/>
            <ac:grpSpMk id="30" creationId="{00000000-0000-0000-0000-000000000000}"/>
          </ac:grpSpMkLst>
        </pc:grpChg>
      </pc:sldChg>
      <pc:sldChg chg="modSp mod">
        <pc:chgData name="Aryan Patel" userId="20e87105db02a3b9" providerId="LiveId" clId="{A07B5FEF-9E22-4816-94AC-AEB62AF44098}" dt="2026-02-11T08:21:22.872" v="33" actId="1076"/>
        <pc:sldMkLst>
          <pc:docMk/>
          <pc:sldMk cId="0" sldId="263"/>
        </pc:sldMkLst>
        <pc:spChg chg="mod">
          <ac:chgData name="Aryan Patel" userId="20e87105db02a3b9" providerId="LiveId" clId="{A07B5FEF-9E22-4816-94AC-AEB62AF44098}" dt="2026-02-11T08:21:22.872" v="33" actId="1076"/>
          <ac:spMkLst>
            <pc:docMk/>
            <pc:sldMk cId="0" sldId="263"/>
            <ac:spMk id="10" creationId="{00000000-0000-0000-0000-000000000000}"/>
          </ac:spMkLst>
        </pc:spChg>
      </pc:sldChg>
      <pc:sldChg chg="modSp mod">
        <pc:chgData name="Aryan Patel" userId="20e87105db02a3b9" providerId="LiveId" clId="{A07B5FEF-9E22-4816-94AC-AEB62AF44098}" dt="2026-02-11T08:22:00.637" v="36" actId="14100"/>
        <pc:sldMkLst>
          <pc:docMk/>
          <pc:sldMk cId="0" sldId="265"/>
        </pc:sldMkLst>
        <pc:spChg chg="mod">
          <ac:chgData name="Aryan Patel" userId="20e87105db02a3b9" providerId="LiveId" clId="{A07B5FEF-9E22-4816-94AC-AEB62AF44098}" dt="2026-02-11T08:21:48.300" v="35" actId="14100"/>
          <ac:spMkLst>
            <pc:docMk/>
            <pc:sldMk cId="0" sldId="265"/>
            <ac:spMk id="6" creationId="{00000000-0000-0000-0000-000000000000}"/>
          </ac:spMkLst>
        </pc:spChg>
        <pc:spChg chg="mod">
          <ac:chgData name="Aryan Patel" userId="20e87105db02a3b9" providerId="LiveId" clId="{A07B5FEF-9E22-4816-94AC-AEB62AF44098}" dt="2026-02-11T08:22:00.637" v="36" actId="14100"/>
          <ac:spMkLst>
            <pc:docMk/>
            <pc:sldMk cId="0" sldId="265"/>
            <ac:spMk id="33" creationId="{00000000-0000-0000-0000-000000000000}"/>
          </ac:spMkLst>
        </pc:spChg>
      </pc:sldChg>
      <pc:sldChg chg="modSp mod">
        <pc:chgData name="Aryan Patel" userId="20e87105db02a3b9" providerId="LiveId" clId="{A07B5FEF-9E22-4816-94AC-AEB62AF44098}" dt="2026-02-11T08:23:10.153" v="42" actId="255"/>
        <pc:sldMkLst>
          <pc:docMk/>
          <pc:sldMk cId="0" sldId="266"/>
        </pc:sldMkLst>
        <pc:spChg chg="mod">
          <ac:chgData name="Aryan Patel" userId="20e87105db02a3b9" providerId="LiveId" clId="{A07B5FEF-9E22-4816-94AC-AEB62AF44098}" dt="2026-02-11T08:22:17.344" v="37" actId="14100"/>
          <ac:spMkLst>
            <pc:docMk/>
            <pc:sldMk cId="0" sldId="266"/>
            <ac:spMk id="14" creationId="{00000000-0000-0000-0000-000000000000}"/>
          </ac:spMkLst>
        </pc:spChg>
        <pc:spChg chg="mod">
          <ac:chgData name="Aryan Patel" userId="20e87105db02a3b9" providerId="LiveId" clId="{A07B5FEF-9E22-4816-94AC-AEB62AF44098}" dt="2026-02-11T08:22:38.558" v="39" actId="255"/>
          <ac:spMkLst>
            <pc:docMk/>
            <pc:sldMk cId="0" sldId="266"/>
            <ac:spMk id="15" creationId="{00000000-0000-0000-0000-000000000000}"/>
          </ac:spMkLst>
        </pc:spChg>
        <pc:spChg chg="mod">
          <ac:chgData name="Aryan Patel" userId="20e87105db02a3b9" providerId="LiveId" clId="{A07B5FEF-9E22-4816-94AC-AEB62AF44098}" dt="2026-02-11T08:22:46.602" v="40" actId="255"/>
          <ac:spMkLst>
            <pc:docMk/>
            <pc:sldMk cId="0" sldId="266"/>
            <ac:spMk id="19" creationId="{00000000-0000-0000-0000-000000000000}"/>
          </ac:spMkLst>
        </pc:spChg>
        <pc:spChg chg="mod">
          <ac:chgData name="Aryan Patel" userId="20e87105db02a3b9" providerId="LiveId" clId="{A07B5FEF-9E22-4816-94AC-AEB62AF44098}" dt="2026-02-11T08:22:23.165" v="38" actId="14100"/>
          <ac:spMkLst>
            <pc:docMk/>
            <pc:sldMk cId="0" sldId="266"/>
            <ac:spMk id="22" creationId="{00000000-0000-0000-0000-000000000000}"/>
          </ac:spMkLst>
        </pc:spChg>
        <pc:spChg chg="mod">
          <ac:chgData name="Aryan Patel" userId="20e87105db02a3b9" providerId="LiveId" clId="{A07B5FEF-9E22-4816-94AC-AEB62AF44098}" dt="2026-02-11T08:23:10.153" v="42" actId="255"/>
          <ac:spMkLst>
            <pc:docMk/>
            <pc:sldMk cId="0" sldId="266"/>
            <ac:spMk id="23" creationId="{00000000-0000-0000-0000-000000000000}"/>
          </ac:spMkLst>
        </pc:spChg>
        <pc:spChg chg="mod">
          <ac:chgData name="Aryan Patel" userId="20e87105db02a3b9" providerId="LiveId" clId="{A07B5FEF-9E22-4816-94AC-AEB62AF44098}" dt="2026-02-11T08:22:56.271" v="41" actId="255"/>
          <ac:spMkLst>
            <pc:docMk/>
            <pc:sldMk cId="0" sldId="266"/>
            <ac:spMk id="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B62C-206D-2AA4-ADB9-02ACD456629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A5C111-C382-7414-5D57-732ECF88C2D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C9B463-7BD3-EB60-19A1-E94B92A7762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950306F-B398-CE9F-95AB-BAEE19D0754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173237D-C2AC-C426-456D-FD80C60736C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a:extLst>
              <a:ext uri="{FF2B5EF4-FFF2-40B4-BE49-F238E27FC236}">
                <a16:creationId xmlns:a16="http://schemas.microsoft.com/office/drawing/2014/main" id="{F5D98564-6F79-311C-F9C2-F5D879B786D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92665F4-8195-3337-05F6-8FE24ABE0B2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26271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s://gamma.app/?utm_source=made-with-gamma" TargetMode="External"/><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850238" y="3346552"/>
            <a:ext cx="9445523" cy="2686498"/>
          </a:xfrm>
          <a:prstGeom prst="rect">
            <a:avLst/>
          </a:prstGeom>
        </p:spPr>
        <p:txBody>
          <a:bodyPr lIns="0" tIns="0" rIns="0" bIns="0" rtlCol="0" anchor="t">
            <a:spAutoFit/>
          </a:bodyPr>
          <a:lstStyle/>
          <a:p>
            <a:pPr algn="l">
              <a:lnSpc>
                <a:spcPts val="6937"/>
              </a:lnSpc>
            </a:pPr>
            <a:r>
              <a:rPr lang="en-US" sz="5562" b="1" dirty="0" err="1">
                <a:solidFill>
                  <a:srgbClr val="124E73"/>
                </a:solidFill>
                <a:latin typeface="Museo Moderno Bold"/>
                <a:ea typeface="Museo Moderno Bold"/>
                <a:cs typeface="Museo Moderno Bold"/>
                <a:sym typeface="Museo Moderno Bold"/>
              </a:rPr>
              <a:t>AirAware</a:t>
            </a:r>
            <a:r>
              <a:rPr lang="en-US" sz="5562" b="1" dirty="0">
                <a:solidFill>
                  <a:srgbClr val="124E73"/>
                </a:solidFill>
                <a:latin typeface="Museo Moderno Bold"/>
                <a:ea typeface="Museo Moderno Bold"/>
                <a:cs typeface="Museo Moderno Bold"/>
                <a:sym typeface="Museo Moderno Bold"/>
              </a:rPr>
              <a:t> – AI Based Air Quality Management System</a:t>
            </a:r>
          </a:p>
        </p:txBody>
      </p:sp>
      <p:sp>
        <p:nvSpPr>
          <p:cNvPr id="9" name="TextBox 9"/>
          <p:cNvSpPr txBox="1"/>
          <p:nvPr/>
        </p:nvSpPr>
        <p:spPr>
          <a:xfrm>
            <a:off x="7850238" y="6372520"/>
            <a:ext cx="9445523" cy="539353"/>
          </a:xfrm>
          <a:prstGeom prst="rect">
            <a:avLst/>
          </a:prstGeom>
        </p:spPr>
        <p:txBody>
          <a:bodyPr lIns="0" tIns="0" rIns="0" bIns="0" rtlCol="0" anchor="t">
            <a:spAutoFit/>
          </a:bodyPr>
          <a:lstStyle/>
          <a:p>
            <a:pPr algn="l">
              <a:lnSpc>
                <a:spcPts val="3562"/>
              </a:lnSpc>
            </a:pPr>
            <a:r>
              <a:rPr lang="en-US" sz="2187" dirty="0">
                <a:solidFill>
                  <a:srgbClr val="2B4150"/>
                </a:solidFill>
                <a:latin typeface="Source Sans 3"/>
                <a:ea typeface="Source Sans 3"/>
                <a:cs typeface="Source Sans 3"/>
                <a:sym typeface="Source Sans 3"/>
              </a:rPr>
              <a:t>Web-Based Air Quality Awareness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3B22-5B47-59D4-70D2-73AFF399BA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1697525-784F-E604-A8A4-2E30982DE393}"/>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A4D234CB-0CCD-97D9-E6AC-B333A3DB7A1A}"/>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a:extLst>
              <a:ext uri="{FF2B5EF4-FFF2-40B4-BE49-F238E27FC236}">
                <a16:creationId xmlns:a16="http://schemas.microsoft.com/office/drawing/2014/main" id="{CF6B5F70-5EA6-2A3A-8CE4-0B3836207A0D}"/>
              </a:ext>
            </a:extLst>
          </p:cNvPr>
          <p:cNvGrpSpPr/>
          <p:nvPr/>
        </p:nvGrpSpPr>
        <p:grpSpPr>
          <a:xfrm>
            <a:off x="0" y="-12700"/>
            <a:ext cx="18288000" cy="10287000"/>
            <a:chOff x="0" y="0"/>
            <a:chExt cx="24384000" cy="13716000"/>
          </a:xfrm>
        </p:grpSpPr>
        <p:sp>
          <p:nvSpPr>
            <p:cNvPr id="5" name="Freeform 5">
              <a:extLst>
                <a:ext uri="{FF2B5EF4-FFF2-40B4-BE49-F238E27FC236}">
                  <a16:creationId xmlns:a16="http://schemas.microsoft.com/office/drawing/2014/main" id="{FDBA93C9-77C2-DF94-47F4-09724598B620}"/>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IN" dirty="0"/>
            </a:p>
          </p:txBody>
        </p:sp>
      </p:grpSp>
      <p:sp>
        <p:nvSpPr>
          <p:cNvPr id="16" name="TextBox 15">
            <a:extLst>
              <a:ext uri="{FF2B5EF4-FFF2-40B4-BE49-F238E27FC236}">
                <a16:creationId xmlns:a16="http://schemas.microsoft.com/office/drawing/2014/main" id="{62F437D0-8A3F-AD54-EF51-CC4050F10B6D}"/>
              </a:ext>
            </a:extLst>
          </p:cNvPr>
          <p:cNvSpPr txBox="1"/>
          <p:nvPr/>
        </p:nvSpPr>
        <p:spPr>
          <a:xfrm>
            <a:off x="914400" y="876300"/>
            <a:ext cx="9347200" cy="584775"/>
          </a:xfrm>
          <a:prstGeom prst="rect">
            <a:avLst/>
          </a:prstGeom>
          <a:noFill/>
        </p:spPr>
        <p:txBody>
          <a:bodyPr wrap="square">
            <a:spAutoFit/>
          </a:bodyPr>
          <a:lstStyle/>
          <a:p>
            <a:r>
              <a:rPr lang="en-US" sz="3200" b="1" dirty="0">
                <a:solidFill>
                  <a:srgbClr val="124E73"/>
                </a:solidFill>
                <a:latin typeface="Museo Moderno Bold"/>
                <a:sym typeface="Museo Moderno Bold"/>
              </a:rPr>
              <a:t>Presented by :-</a:t>
            </a:r>
            <a:endParaRPr lang="en-IN" sz="3200" dirty="0"/>
          </a:p>
        </p:txBody>
      </p:sp>
      <p:graphicFrame>
        <p:nvGraphicFramePr>
          <p:cNvPr id="18" name="Table 17">
            <a:extLst>
              <a:ext uri="{FF2B5EF4-FFF2-40B4-BE49-F238E27FC236}">
                <a16:creationId xmlns:a16="http://schemas.microsoft.com/office/drawing/2014/main" id="{23AC1071-9A87-84E5-6C6A-8F4AA1B6D7A2}"/>
              </a:ext>
            </a:extLst>
          </p:cNvPr>
          <p:cNvGraphicFramePr>
            <a:graphicFrameLocks noGrp="1"/>
          </p:cNvGraphicFramePr>
          <p:nvPr>
            <p:extLst>
              <p:ext uri="{D42A27DB-BD31-4B8C-83A1-F6EECF244321}">
                <p14:modId xmlns:p14="http://schemas.microsoft.com/office/powerpoint/2010/main" val="4277251288"/>
              </p:ext>
            </p:extLst>
          </p:nvPr>
        </p:nvGraphicFramePr>
        <p:xfrm>
          <a:off x="914400" y="2171700"/>
          <a:ext cx="16002000" cy="3810000"/>
        </p:xfrm>
        <a:graphic>
          <a:graphicData uri="http://schemas.openxmlformats.org/drawingml/2006/table">
            <a:tbl>
              <a:tblPr firstRow="1" bandRow="1">
                <a:tableStyleId>{BC89EF96-8CEA-46FF-86C4-4CE0E7609802}</a:tableStyleId>
              </a:tblPr>
              <a:tblGrid>
                <a:gridCol w="7543800">
                  <a:extLst>
                    <a:ext uri="{9D8B030D-6E8A-4147-A177-3AD203B41FA5}">
                      <a16:colId xmlns:a16="http://schemas.microsoft.com/office/drawing/2014/main" val="3338027023"/>
                    </a:ext>
                  </a:extLst>
                </a:gridCol>
                <a:gridCol w="5334000">
                  <a:extLst>
                    <a:ext uri="{9D8B030D-6E8A-4147-A177-3AD203B41FA5}">
                      <a16:colId xmlns:a16="http://schemas.microsoft.com/office/drawing/2014/main" val="4155296676"/>
                    </a:ext>
                  </a:extLst>
                </a:gridCol>
                <a:gridCol w="3124200">
                  <a:extLst>
                    <a:ext uri="{9D8B030D-6E8A-4147-A177-3AD203B41FA5}">
                      <a16:colId xmlns:a16="http://schemas.microsoft.com/office/drawing/2014/main" val="2954959686"/>
                    </a:ext>
                  </a:extLst>
                </a:gridCol>
              </a:tblGrid>
              <a:tr h="952500">
                <a:tc>
                  <a:txBody>
                    <a:bodyPr/>
                    <a:lstStyle/>
                    <a:p>
                      <a:r>
                        <a:rPr lang="en-US" sz="3200" b="1" dirty="0">
                          <a:solidFill>
                            <a:srgbClr val="124E73"/>
                          </a:solidFill>
                          <a:latin typeface="Times New Roman" panose="02020603050405020304" pitchFamily="18" charset="0"/>
                          <a:cs typeface="Times New Roman" panose="02020603050405020304" pitchFamily="18" charset="0"/>
                          <a:sym typeface="Museo Moderno Bold"/>
                        </a:rPr>
                        <a:t>Patel Het </a:t>
                      </a:r>
                      <a:r>
                        <a:rPr lang="en-US" sz="3200" b="1" dirty="0" err="1">
                          <a:solidFill>
                            <a:srgbClr val="124E73"/>
                          </a:solidFill>
                          <a:latin typeface="Times New Roman" panose="02020603050405020304" pitchFamily="18" charset="0"/>
                          <a:cs typeface="Times New Roman" panose="02020603050405020304" pitchFamily="18" charset="0"/>
                          <a:sym typeface="Museo Moderno Bold"/>
                        </a:rPr>
                        <a:t>Dineshbhai</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23BECE30200</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Div-C</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648960"/>
                  </a:ext>
                </a:extLst>
              </a:tr>
              <a:tr h="952500">
                <a:tc>
                  <a:txBody>
                    <a:bodyPr/>
                    <a:lstStyle/>
                    <a:p>
                      <a:r>
                        <a:rPr lang="en-US" sz="3200" b="1" dirty="0" err="1">
                          <a:solidFill>
                            <a:srgbClr val="124E73"/>
                          </a:solidFill>
                          <a:latin typeface="Times New Roman" panose="02020603050405020304" pitchFamily="18" charset="0"/>
                          <a:cs typeface="Times New Roman" panose="02020603050405020304" pitchFamily="18" charset="0"/>
                          <a:sym typeface="Museo Moderno Bold"/>
                        </a:rPr>
                        <a:t>Jansari</a:t>
                      </a:r>
                      <a:r>
                        <a:rPr lang="en-US" sz="3200" b="1" dirty="0">
                          <a:solidFill>
                            <a:srgbClr val="124E73"/>
                          </a:solidFill>
                          <a:latin typeface="Times New Roman" panose="02020603050405020304" pitchFamily="18" charset="0"/>
                          <a:cs typeface="Times New Roman" panose="02020603050405020304" pitchFamily="18" charset="0"/>
                          <a:sym typeface="Museo Moderno Bold"/>
                        </a:rPr>
                        <a:t> Jigar </a:t>
                      </a:r>
                      <a:r>
                        <a:rPr lang="en-US" sz="3200" b="1" dirty="0" err="1">
                          <a:solidFill>
                            <a:srgbClr val="124E73"/>
                          </a:solidFill>
                          <a:latin typeface="Times New Roman" panose="02020603050405020304" pitchFamily="18" charset="0"/>
                          <a:cs typeface="Times New Roman" panose="02020603050405020304" pitchFamily="18" charset="0"/>
                          <a:sym typeface="Museo Moderno Bold"/>
                        </a:rPr>
                        <a:t>Lalitbhai</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23BECE30088</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Div-B</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4336425"/>
                  </a:ext>
                </a:extLst>
              </a:tr>
              <a:tr h="952500">
                <a:tc>
                  <a:txBody>
                    <a:bodyPr/>
                    <a:lstStyle/>
                    <a:p>
                      <a:r>
                        <a:rPr lang="en-US" sz="3200" b="1" dirty="0">
                          <a:solidFill>
                            <a:srgbClr val="124E73"/>
                          </a:solidFill>
                          <a:latin typeface="Times New Roman" panose="02020603050405020304" pitchFamily="18" charset="0"/>
                          <a:cs typeface="Times New Roman" panose="02020603050405020304" pitchFamily="18" charset="0"/>
                          <a:sym typeface="Museo Moderno Bold"/>
                        </a:rPr>
                        <a:t>Patel Dhruvil </a:t>
                      </a:r>
                      <a:r>
                        <a:rPr lang="en-US" sz="3200" b="1" dirty="0" err="1">
                          <a:solidFill>
                            <a:srgbClr val="124E73"/>
                          </a:solidFill>
                          <a:latin typeface="Times New Roman" panose="02020603050405020304" pitchFamily="18" charset="0"/>
                          <a:cs typeface="Times New Roman" panose="02020603050405020304" pitchFamily="18" charset="0"/>
                          <a:sym typeface="Museo Moderno Bold"/>
                        </a:rPr>
                        <a:t>Hareshkumar</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23BECE30180</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Div-C</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0171076"/>
                  </a:ext>
                </a:extLst>
              </a:tr>
              <a:tr h="952500">
                <a:tc>
                  <a:txBody>
                    <a:bodyPr/>
                    <a:lstStyle/>
                    <a:p>
                      <a:r>
                        <a:rPr lang="en-US" sz="3200" b="1" dirty="0">
                          <a:solidFill>
                            <a:srgbClr val="124E73"/>
                          </a:solidFill>
                          <a:latin typeface="Times New Roman" panose="02020603050405020304" pitchFamily="18" charset="0"/>
                          <a:cs typeface="Times New Roman" panose="02020603050405020304" pitchFamily="18" charset="0"/>
                          <a:sym typeface="Museo Moderno Bold"/>
                        </a:rPr>
                        <a:t>Patel Aryan </a:t>
                      </a:r>
                      <a:r>
                        <a:rPr lang="en-US" sz="3200" b="1" dirty="0" err="1">
                          <a:solidFill>
                            <a:srgbClr val="124E73"/>
                          </a:solidFill>
                          <a:latin typeface="Times New Roman" panose="02020603050405020304" pitchFamily="18" charset="0"/>
                          <a:cs typeface="Times New Roman" panose="02020603050405020304" pitchFamily="18" charset="0"/>
                          <a:sym typeface="Museo Moderno Bold"/>
                        </a:rPr>
                        <a:t>Mahendrabhai</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23BECE30167</a:t>
                      </a:r>
                      <a:endParaRPr lang="en-IN" sz="3200" dirty="0">
                        <a:latin typeface="Times New Roman" panose="02020603050405020304" pitchFamily="18" charset="0"/>
                        <a:cs typeface="Times New Roman" panose="02020603050405020304" pitchFamily="18" charset="0"/>
                      </a:endParaRPr>
                    </a:p>
                  </a:txBody>
                  <a:tcPr/>
                </a:tc>
                <a:tc>
                  <a:txBody>
                    <a:bodyPr/>
                    <a:lstStyle/>
                    <a:p>
                      <a:pPr algn="ctr"/>
                      <a:r>
                        <a:rPr lang="en-US" sz="3200" b="1" dirty="0">
                          <a:solidFill>
                            <a:srgbClr val="124E73"/>
                          </a:solidFill>
                          <a:latin typeface="Times New Roman" panose="02020603050405020304" pitchFamily="18" charset="0"/>
                          <a:cs typeface="Times New Roman" panose="02020603050405020304" pitchFamily="18" charset="0"/>
                          <a:sym typeface="Museo Moderno Bold"/>
                        </a:rPr>
                        <a:t>Div-C</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9687265"/>
                  </a:ext>
                </a:extLst>
              </a:tr>
            </a:tbl>
          </a:graphicData>
        </a:graphic>
      </p:graphicFrame>
      <p:sp>
        <p:nvSpPr>
          <p:cNvPr id="21" name="TextBox 20">
            <a:extLst>
              <a:ext uri="{FF2B5EF4-FFF2-40B4-BE49-F238E27FC236}">
                <a16:creationId xmlns:a16="http://schemas.microsoft.com/office/drawing/2014/main" id="{E1E708F8-C1B1-CF6B-0C38-6D07549F1287}"/>
              </a:ext>
            </a:extLst>
          </p:cNvPr>
          <p:cNvSpPr txBox="1"/>
          <p:nvPr/>
        </p:nvSpPr>
        <p:spPr>
          <a:xfrm>
            <a:off x="12194177" y="7074849"/>
            <a:ext cx="4953000" cy="584775"/>
          </a:xfrm>
          <a:prstGeom prst="rect">
            <a:avLst/>
          </a:prstGeom>
          <a:noFill/>
        </p:spPr>
        <p:txBody>
          <a:bodyPr wrap="square">
            <a:spAutoFit/>
          </a:bodyPr>
          <a:lstStyle/>
          <a:p>
            <a:r>
              <a:rPr lang="en-US" sz="3200" b="1" dirty="0">
                <a:solidFill>
                  <a:srgbClr val="124E73"/>
                </a:solidFill>
                <a:latin typeface="Museo Moderno Bold"/>
                <a:sym typeface="Museo Moderno Bold"/>
              </a:rPr>
              <a:t>Guided By :-</a:t>
            </a:r>
            <a:endParaRPr lang="en-IN" sz="3200" dirty="0"/>
          </a:p>
        </p:txBody>
      </p:sp>
      <p:sp>
        <p:nvSpPr>
          <p:cNvPr id="23" name="TextBox 22">
            <a:extLst>
              <a:ext uri="{FF2B5EF4-FFF2-40B4-BE49-F238E27FC236}">
                <a16:creationId xmlns:a16="http://schemas.microsoft.com/office/drawing/2014/main" id="{EA89CDC2-A827-44E4-3A1B-F4ECD1992DB8}"/>
              </a:ext>
            </a:extLst>
          </p:cNvPr>
          <p:cNvSpPr txBox="1"/>
          <p:nvPr/>
        </p:nvSpPr>
        <p:spPr>
          <a:xfrm>
            <a:off x="12194177" y="7952918"/>
            <a:ext cx="4722223" cy="707886"/>
          </a:xfrm>
          <a:prstGeom prst="rect">
            <a:avLst/>
          </a:prstGeom>
          <a:noFill/>
        </p:spPr>
        <p:txBody>
          <a:bodyPr wrap="square">
            <a:spAutoFit/>
          </a:bodyPr>
          <a:lstStyle/>
          <a:p>
            <a:r>
              <a:rPr lang="en-US" sz="4000" b="1" dirty="0">
                <a:solidFill>
                  <a:srgbClr val="124E73"/>
                </a:solidFill>
                <a:latin typeface="Times New Roman" panose="02020603050405020304" pitchFamily="18" charset="0"/>
                <a:cs typeface="Times New Roman" panose="02020603050405020304" pitchFamily="18" charset="0"/>
                <a:sym typeface="Museo Moderno Bold"/>
              </a:rPr>
              <a:t>Prof. </a:t>
            </a:r>
            <a:r>
              <a:rPr lang="en-US" sz="4000" b="1" dirty="0" err="1">
                <a:solidFill>
                  <a:srgbClr val="124E73"/>
                </a:solidFill>
                <a:latin typeface="Times New Roman" panose="02020603050405020304" pitchFamily="18" charset="0"/>
                <a:cs typeface="Times New Roman" panose="02020603050405020304" pitchFamily="18" charset="0"/>
                <a:sym typeface="Museo Moderno Bold"/>
              </a:rPr>
              <a:t>Jaiminee</a:t>
            </a:r>
            <a:r>
              <a:rPr lang="en-US" sz="4000" b="1" dirty="0">
                <a:solidFill>
                  <a:srgbClr val="124E73"/>
                </a:solidFill>
                <a:latin typeface="Times New Roman" panose="02020603050405020304" pitchFamily="18" charset="0"/>
                <a:cs typeface="Times New Roman" panose="02020603050405020304" pitchFamily="18" charset="0"/>
                <a:sym typeface="Museo Moderno Bold"/>
              </a:rPr>
              <a:t> Patel</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657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381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992238" y="928689"/>
            <a:ext cx="3198762" cy="644127"/>
            <a:chOff x="0" y="0"/>
            <a:chExt cx="3582391" cy="858838"/>
          </a:xfrm>
        </p:grpSpPr>
        <p:sp>
          <p:nvSpPr>
            <p:cNvPr id="7" name="Freeform 7"/>
            <p:cNvSpPr/>
            <p:nvPr/>
          </p:nvSpPr>
          <p:spPr>
            <a:xfrm>
              <a:off x="0" y="0"/>
              <a:ext cx="3582416" cy="858901"/>
            </a:xfrm>
            <a:custGeom>
              <a:avLst/>
              <a:gdLst/>
              <a:ahLst/>
              <a:cxnLst/>
              <a:rect l="l" t="t" r="r" b="b"/>
              <a:pathLst>
                <a:path w="3582416" h="858901">
                  <a:moveTo>
                    <a:pt x="0" y="56769"/>
                  </a:moveTo>
                  <a:cubicBezTo>
                    <a:pt x="0" y="25400"/>
                    <a:pt x="25400" y="0"/>
                    <a:pt x="56769" y="0"/>
                  </a:cubicBezTo>
                  <a:lnTo>
                    <a:pt x="3525647" y="0"/>
                  </a:lnTo>
                  <a:cubicBezTo>
                    <a:pt x="3557016" y="0"/>
                    <a:pt x="3582416" y="25400"/>
                    <a:pt x="3582416" y="56769"/>
                  </a:cubicBezTo>
                  <a:lnTo>
                    <a:pt x="3582416" y="802132"/>
                  </a:lnTo>
                  <a:cubicBezTo>
                    <a:pt x="3582416" y="833501"/>
                    <a:pt x="3557016" y="858901"/>
                    <a:pt x="3525647" y="858901"/>
                  </a:cubicBezTo>
                  <a:lnTo>
                    <a:pt x="56769" y="858901"/>
                  </a:lnTo>
                  <a:cubicBezTo>
                    <a:pt x="25400" y="858901"/>
                    <a:pt x="0" y="833374"/>
                    <a:pt x="0" y="802132"/>
                  </a:cubicBezTo>
                  <a:close/>
                </a:path>
              </a:pathLst>
            </a:custGeom>
            <a:solidFill>
              <a:srgbClr val="DBE8F0"/>
            </a:solidFill>
          </p:spPr>
        </p:sp>
      </p:grpSp>
      <p:sp>
        <p:nvSpPr>
          <p:cNvPr id="8" name="TextBox 8"/>
          <p:cNvSpPr txBox="1"/>
          <p:nvPr/>
        </p:nvSpPr>
        <p:spPr>
          <a:xfrm>
            <a:off x="1145228" y="1028700"/>
            <a:ext cx="2817172" cy="307777"/>
          </a:xfrm>
          <a:prstGeom prst="rect">
            <a:avLst/>
          </a:prstGeom>
        </p:spPr>
        <p:txBody>
          <a:bodyPr wrap="square" lIns="0" tIns="0" rIns="0" bIns="0" rtlCol="0" anchor="t">
            <a:spAutoFit/>
          </a:bodyPr>
          <a:lstStyle/>
          <a:p>
            <a:pPr algn="l">
              <a:lnSpc>
                <a:spcPts val="2437"/>
              </a:lnSpc>
            </a:pPr>
            <a:r>
              <a:rPr lang="en-US" sz="2000" b="1" dirty="0">
                <a:solidFill>
                  <a:srgbClr val="2B4150"/>
                </a:solidFill>
                <a:latin typeface="Source Sans 3 Bold"/>
                <a:ea typeface="Source Sans 3 Bold"/>
                <a:cs typeface="Source Sans 3 Bold"/>
                <a:sym typeface="Source Sans 3 Bold"/>
              </a:rPr>
              <a:t>PROBLEM</a:t>
            </a:r>
            <a:r>
              <a:rPr lang="en-US" sz="2000" dirty="0">
                <a:solidFill>
                  <a:srgbClr val="2B4150"/>
                </a:solidFill>
                <a:latin typeface="Source Sans 3"/>
                <a:ea typeface="Source Sans 3"/>
                <a:cs typeface="Source Sans 3"/>
                <a:sym typeface="Source Sans 3"/>
              </a:rPr>
              <a:t> </a:t>
            </a:r>
            <a:r>
              <a:rPr lang="en-US" sz="2000" b="1" dirty="0">
                <a:solidFill>
                  <a:srgbClr val="2B4150"/>
                </a:solidFill>
                <a:latin typeface="Source Sans 3 Bold"/>
                <a:ea typeface="Source Sans 3 Bold"/>
                <a:cs typeface="Source Sans 3 Bold"/>
                <a:sym typeface="Source Sans 3 Bold"/>
              </a:rPr>
              <a:t>STATEMENT</a:t>
            </a:r>
          </a:p>
        </p:txBody>
      </p:sp>
      <p:sp>
        <p:nvSpPr>
          <p:cNvPr id="9" name="TextBox 9"/>
          <p:cNvSpPr txBox="1"/>
          <p:nvPr/>
        </p:nvSpPr>
        <p:spPr>
          <a:xfrm>
            <a:off x="992238" y="1645596"/>
            <a:ext cx="14171562" cy="816473"/>
          </a:xfrm>
          <a:prstGeom prst="rect">
            <a:avLst/>
          </a:prstGeom>
        </p:spPr>
        <p:txBody>
          <a:bodyPr wrap="square" lIns="0" tIns="0" rIns="0" bIns="0" rtlCol="0" anchor="t">
            <a:spAutoFit/>
          </a:bodyPr>
          <a:lstStyle/>
          <a:p>
            <a:pPr algn="l">
              <a:lnSpc>
                <a:spcPts val="6249"/>
              </a:lnSpc>
            </a:pPr>
            <a:r>
              <a:rPr lang="en-US" sz="4999" b="1" dirty="0">
                <a:solidFill>
                  <a:srgbClr val="124E73"/>
                </a:solidFill>
                <a:latin typeface="Museo Moderno Bold"/>
                <a:ea typeface="Museo Moderno Bold"/>
                <a:cs typeface="Museo Moderno Bold"/>
                <a:sym typeface="Museo Moderno Bold"/>
              </a:rPr>
              <a:t>The Air Quality Challenge in India</a:t>
            </a:r>
          </a:p>
        </p:txBody>
      </p:sp>
      <p:grpSp>
        <p:nvGrpSpPr>
          <p:cNvPr id="10" name="Group 10"/>
          <p:cNvGrpSpPr/>
          <p:nvPr/>
        </p:nvGrpSpPr>
        <p:grpSpPr>
          <a:xfrm>
            <a:off x="1511198" y="3345209"/>
            <a:ext cx="9341348" cy="5293366"/>
            <a:chOff x="0" y="0"/>
            <a:chExt cx="12455131" cy="7057822"/>
          </a:xfrm>
        </p:grpSpPr>
        <p:sp>
          <p:nvSpPr>
            <p:cNvPr id="11" name="Freeform 11" descr="preencoded.png"/>
            <p:cNvSpPr/>
            <p:nvPr/>
          </p:nvSpPr>
          <p:spPr>
            <a:xfrm>
              <a:off x="0" y="0"/>
              <a:ext cx="12455144" cy="7057771"/>
            </a:xfrm>
            <a:custGeom>
              <a:avLst/>
              <a:gdLst/>
              <a:ahLst/>
              <a:cxnLst/>
              <a:rect l="l" t="t" r="r" b="b"/>
              <a:pathLst>
                <a:path w="12455144" h="7057771">
                  <a:moveTo>
                    <a:pt x="0" y="0"/>
                  </a:moveTo>
                  <a:lnTo>
                    <a:pt x="12455144" y="0"/>
                  </a:lnTo>
                  <a:lnTo>
                    <a:pt x="12455144" y="7057771"/>
                  </a:lnTo>
                  <a:lnTo>
                    <a:pt x="0" y="7057771"/>
                  </a:lnTo>
                  <a:lnTo>
                    <a:pt x="0" y="0"/>
                  </a:lnTo>
                  <a:close/>
                </a:path>
              </a:pathLst>
            </a:custGeom>
            <a:blipFill>
              <a:blip r:embed="rId3"/>
              <a:stretch>
                <a:fillRect t="-9" b="-10"/>
              </a:stretch>
            </a:blipFill>
          </p:spPr>
        </p:sp>
      </p:grpSp>
      <p:sp>
        <p:nvSpPr>
          <p:cNvPr id="12" name="TextBox 12"/>
          <p:cNvSpPr txBox="1"/>
          <p:nvPr/>
        </p:nvSpPr>
        <p:spPr>
          <a:xfrm>
            <a:off x="12003586" y="2946349"/>
            <a:ext cx="5301558" cy="2289088"/>
          </a:xfrm>
          <a:prstGeom prst="rect">
            <a:avLst/>
          </a:prstGeom>
        </p:spPr>
        <p:txBody>
          <a:bodyPr lIns="0" tIns="0" rIns="0" bIns="0" rtlCol="0" anchor="t">
            <a:spAutoFit/>
          </a:bodyPr>
          <a:lstStyle/>
          <a:p>
            <a:pPr algn="l">
              <a:lnSpc>
                <a:spcPts val="3000"/>
              </a:lnSpc>
            </a:pPr>
            <a:r>
              <a:rPr lang="en-US" sz="2000" dirty="0">
                <a:solidFill>
                  <a:srgbClr val="2B4150"/>
                </a:solidFill>
                <a:latin typeface="Source Sans 3"/>
                <a:ea typeface="Source Sans 3"/>
                <a:cs typeface="Source Sans 3"/>
                <a:sym typeface="Source Sans 3"/>
              </a:rPr>
              <a:t>Air pollution has emerged as a critical public health crisis in India, with millions exposed to hazardous air quality daily. Despite the availability of Air Quality Index (AQI) data, most citizens struggle to interpret these numbers and understand their health implications.</a:t>
            </a:r>
          </a:p>
        </p:txBody>
      </p:sp>
      <p:sp>
        <p:nvSpPr>
          <p:cNvPr id="13" name="TextBox 13"/>
          <p:cNvSpPr txBox="1"/>
          <p:nvPr/>
        </p:nvSpPr>
        <p:spPr>
          <a:xfrm>
            <a:off x="12003586" y="5479999"/>
            <a:ext cx="5301558" cy="454523"/>
          </a:xfrm>
          <a:prstGeom prst="rect">
            <a:avLst/>
          </a:prstGeom>
        </p:spPr>
        <p:txBody>
          <a:bodyPr lIns="0" tIns="0" rIns="0" bIns="0" rtlCol="0" anchor="t">
            <a:spAutoFit/>
          </a:bodyPr>
          <a:lstStyle/>
          <a:p>
            <a:pPr algn="l">
              <a:lnSpc>
                <a:spcPts val="3000"/>
              </a:lnSpc>
            </a:pPr>
            <a:r>
              <a:rPr lang="en-US" sz="2000">
                <a:solidFill>
                  <a:srgbClr val="2B4150"/>
                </a:solidFill>
                <a:latin typeface="Source Sans 3"/>
                <a:ea typeface="Source Sans 3"/>
                <a:cs typeface="Source Sans 3"/>
                <a:sym typeface="Source Sans 3"/>
              </a:rPr>
              <a:t>The core challenges include:</a:t>
            </a:r>
          </a:p>
        </p:txBody>
      </p:sp>
      <p:sp>
        <p:nvSpPr>
          <p:cNvPr id="14" name="TextBox 14"/>
          <p:cNvSpPr txBox="1"/>
          <p:nvPr/>
        </p:nvSpPr>
        <p:spPr>
          <a:xfrm>
            <a:off x="12003586" y="6074416"/>
            <a:ext cx="5301558" cy="2781805"/>
          </a:xfrm>
          <a:prstGeom prst="rect">
            <a:avLst/>
          </a:prstGeom>
        </p:spPr>
        <p:txBody>
          <a:bodyPr lIns="0" tIns="0" rIns="0" bIns="0" rtlCol="0" anchor="t">
            <a:spAutoFit/>
          </a:bodyPr>
          <a:lstStyle/>
          <a:p>
            <a:pPr marL="301625" lvl="1" indent="-150812" algn="l">
              <a:lnSpc>
                <a:spcPts val="3000"/>
              </a:lnSpc>
              <a:buFont typeface="Arial"/>
              <a:buChar char="•"/>
            </a:pPr>
            <a:r>
              <a:rPr lang="en-US" sz="2000">
                <a:solidFill>
                  <a:srgbClr val="2B4150"/>
                </a:solidFill>
                <a:latin typeface="Source Sans 3"/>
                <a:ea typeface="Source Sans 3"/>
                <a:cs typeface="Source Sans 3"/>
                <a:sym typeface="Source Sans 3"/>
              </a:rPr>
              <a:t>Complex AQI metrics that lack context for general users</a:t>
            </a:r>
          </a:p>
          <a:p>
            <a:pPr marL="301625" lvl="1" indent="-150812" algn="l">
              <a:lnSpc>
                <a:spcPts val="3000"/>
              </a:lnSpc>
              <a:buFont typeface="Arial"/>
              <a:buChar char="•"/>
            </a:pPr>
            <a:r>
              <a:rPr lang="en-US" sz="2000">
                <a:solidFill>
                  <a:srgbClr val="2B4150"/>
                </a:solidFill>
                <a:latin typeface="Source Sans 3"/>
                <a:ea typeface="Source Sans 3"/>
                <a:cs typeface="Source Sans 3"/>
                <a:sym typeface="Source Sans 3"/>
              </a:rPr>
              <a:t>Absence of personalized health guidance and protective recommendations</a:t>
            </a:r>
          </a:p>
          <a:p>
            <a:pPr marL="301625" lvl="1" indent="-150812" algn="l">
              <a:lnSpc>
                <a:spcPts val="3000"/>
              </a:lnSpc>
              <a:buFont typeface="Arial"/>
              <a:buChar char="•"/>
            </a:pPr>
            <a:r>
              <a:rPr lang="en-US" sz="2000">
                <a:solidFill>
                  <a:srgbClr val="2B4150"/>
                </a:solidFill>
                <a:latin typeface="Source Sans 3"/>
                <a:ea typeface="Source Sans 3"/>
                <a:cs typeface="Source Sans 3"/>
                <a:sym typeface="Source Sans 3"/>
              </a:rPr>
              <a:t>Limited accessibility for diverse user groups</a:t>
            </a:r>
          </a:p>
          <a:p>
            <a:pPr marL="301625" lvl="1" indent="-150812" algn="l">
              <a:lnSpc>
                <a:spcPts val="3000"/>
              </a:lnSpc>
              <a:buFont typeface="Arial"/>
              <a:buChar char="•"/>
            </a:pPr>
            <a:r>
              <a:rPr lang="en-US" sz="2000">
                <a:solidFill>
                  <a:srgbClr val="2B4150"/>
                </a:solidFill>
                <a:latin typeface="Source Sans 3"/>
                <a:ea typeface="Source Sans 3"/>
                <a:cs typeface="Source Sans 3"/>
                <a:sym typeface="Source Sans 3"/>
              </a:rPr>
              <a:t>Gap between data availability and actionable awareness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IN" dirty="0"/>
            </a:p>
          </p:txBody>
        </p:sp>
      </p:grpSp>
      <p:grpSp>
        <p:nvGrpSpPr>
          <p:cNvPr id="6" name="Group 6"/>
          <p:cNvGrpSpPr/>
          <p:nvPr/>
        </p:nvGrpSpPr>
        <p:grpSpPr>
          <a:xfrm>
            <a:off x="987476" y="1206398"/>
            <a:ext cx="2276180" cy="561384"/>
            <a:chOff x="0" y="0"/>
            <a:chExt cx="3034906" cy="748513"/>
          </a:xfrm>
        </p:grpSpPr>
        <p:sp>
          <p:nvSpPr>
            <p:cNvPr id="7" name="Freeform 7"/>
            <p:cNvSpPr/>
            <p:nvPr/>
          </p:nvSpPr>
          <p:spPr>
            <a:xfrm>
              <a:off x="0" y="0"/>
              <a:ext cx="3034919" cy="748538"/>
            </a:xfrm>
            <a:custGeom>
              <a:avLst/>
              <a:gdLst/>
              <a:ahLst/>
              <a:cxnLst/>
              <a:rect l="l" t="t" r="r" b="b"/>
              <a:pathLst>
                <a:path w="3034919" h="748538">
                  <a:moveTo>
                    <a:pt x="0" y="51689"/>
                  </a:moveTo>
                  <a:cubicBezTo>
                    <a:pt x="0" y="23114"/>
                    <a:pt x="23495" y="0"/>
                    <a:pt x="52324" y="0"/>
                  </a:cubicBezTo>
                  <a:lnTo>
                    <a:pt x="2982595" y="0"/>
                  </a:lnTo>
                  <a:lnTo>
                    <a:pt x="2982595" y="6350"/>
                  </a:lnTo>
                  <a:lnTo>
                    <a:pt x="2982595" y="0"/>
                  </a:lnTo>
                  <a:cubicBezTo>
                    <a:pt x="3011424" y="0"/>
                    <a:pt x="3034919" y="23114"/>
                    <a:pt x="3034919" y="51689"/>
                  </a:cubicBezTo>
                  <a:lnTo>
                    <a:pt x="3034919" y="696849"/>
                  </a:lnTo>
                  <a:lnTo>
                    <a:pt x="3028569" y="696849"/>
                  </a:lnTo>
                  <a:lnTo>
                    <a:pt x="3034919" y="696849"/>
                  </a:lnTo>
                  <a:cubicBezTo>
                    <a:pt x="3034919" y="725424"/>
                    <a:pt x="3011424" y="748538"/>
                    <a:pt x="2982595" y="748538"/>
                  </a:cubicBezTo>
                  <a:lnTo>
                    <a:pt x="2982595" y="742188"/>
                  </a:lnTo>
                  <a:lnTo>
                    <a:pt x="2982595" y="748538"/>
                  </a:lnTo>
                  <a:lnTo>
                    <a:pt x="52324" y="748538"/>
                  </a:lnTo>
                  <a:lnTo>
                    <a:pt x="52324" y="742188"/>
                  </a:lnTo>
                  <a:lnTo>
                    <a:pt x="52324" y="748538"/>
                  </a:lnTo>
                  <a:cubicBezTo>
                    <a:pt x="23495" y="748538"/>
                    <a:pt x="0" y="725424"/>
                    <a:pt x="0" y="696849"/>
                  </a:cubicBezTo>
                  <a:lnTo>
                    <a:pt x="0" y="51689"/>
                  </a:lnTo>
                  <a:lnTo>
                    <a:pt x="6350" y="51689"/>
                  </a:lnTo>
                  <a:lnTo>
                    <a:pt x="0" y="51689"/>
                  </a:lnTo>
                  <a:moveTo>
                    <a:pt x="12700" y="51689"/>
                  </a:moveTo>
                  <a:lnTo>
                    <a:pt x="12700" y="696849"/>
                  </a:lnTo>
                  <a:lnTo>
                    <a:pt x="6350" y="696849"/>
                  </a:lnTo>
                  <a:lnTo>
                    <a:pt x="12700" y="696849"/>
                  </a:lnTo>
                  <a:cubicBezTo>
                    <a:pt x="12700" y="718312"/>
                    <a:pt x="30353" y="735838"/>
                    <a:pt x="52324" y="735838"/>
                  </a:cubicBezTo>
                  <a:lnTo>
                    <a:pt x="2982595" y="735838"/>
                  </a:lnTo>
                  <a:cubicBezTo>
                    <a:pt x="3004566" y="735838"/>
                    <a:pt x="3022219" y="718312"/>
                    <a:pt x="3022219" y="696849"/>
                  </a:cubicBezTo>
                  <a:lnTo>
                    <a:pt x="3022219" y="51689"/>
                  </a:lnTo>
                  <a:lnTo>
                    <a:pt x="3028569" y="51689"/>
                  </a:lnTo>
                  <a:lnTo>
                    <a:pt x="3022219" y="51689"/>
                  </a:lnTo>
                  <a:cubicBezTo>
                    <a:pt x="3022219" y="30226"/>
                    <a:pt x="3004566" y="12700"/>
                    <a:pt x="2982595" y="12700"/>
                  </a:cubicBezTo>
                  <a:lnTo>
                    <a:pt x="52324" y="12700"/>
                  </a:lnTo>
                  <a:lnTo>
                    <a:pt x="52324" y="6350"/>
                  </a:lnTo>
                  <a:lnTo>
                    <a:pt x="52324" y="12700"/>
                  </a:lnTo>
                  <a:cubicBezTo>
                    <a:pt x="30353" y="12700"/>
                    <a:pt x="12700" y="30226"/>
                    <a:pt x="12700" y="51689"/>
                  </a:cubicBezTo>
                  <a:close/>
                </a:path>
              </a:pathLst>
            </a:custGeom>
            <a:solidFill>
              <a:srgbClr val="325F7B"/>
            </a:solidFill>
          </p:spPr>
        </p:sp>
      </p:grpSp>
      <p:sp>
        <p:nvSpPr>
          <p:cNvPr id="8" name="TextBox 8"/>
          <p:cNvSpPr txBox="1"/>
          <p:nvPr/>
        </p:nvSpPr>
        <p:spPr>
          <a:xfrm>
            <a:off x="1171870" y="1300708"/>
            <a:ext cx="2091796" cy="336631"/>
          </a:xfrm>
          <a:prstGeom prst="rect">
            <a:avLst/>
          </a:prstGeom>
        </p:spPr>
        <p:txBody>
          <a:bodyPr wrap="square" lIns="0" tIns="0" rIns="0" bIns="0" rtlCol="0" anchor="t">
            <a:spAutoFit/>
          </a:bodyPr>
          <a:lstStyle/>
          <a:p>
            <a:pPr algn="l">
              <a:lnSpc>
                <a:spcPts val="2812"/>
              </a:lnSpc>
            </a:pPr>
            <a:r>
              <a:rPr lang="en-US" sz="1750" b="1" dirty="0">
                <a:solidFill>
                  <a:srgbClr val="325F7B"/>
                </a:solidFill>
                <a:latin typeface="Source Sans 3 Bold"/>
                <a:ea typeface="Source Sans 3 Bold"/>
                <a:cs typeface="Source Sans 3 Bold"/>
                <a:sym typeface="Source Sans 3 Bold"/>
              </a:rPr>
              <a:t>PROJECT OVERVIEW</a:t>
            </a:r>
          </a:p>
        </p:txBody>
      </p:sp>
      <p:sp>
        <p:nvSpPr>
          <p:cNvPr id="9" name="TextBox 9"/>
          <p:cNvSpPr txBox="1"/>
          <p:nvPr/>
        </p:nvSpPr>
        <p:spPr>
          <a:xfrm>
            <a:off x="992238" y="1862110"/>
            <a:ext cx="12139022" cy="900291"/>
          </a:xfrm>
          <a:prstGeom prst="rect">
            <a:avLst/>
          </a:prstGeom>
        </p:spPr>
        <p:txBody>
          <a:bodyPr wrap="square" lIns="0" tIns="0" rIns="0" bIns="0" rtlCol="0" anchor="t">
            <a:spAutoFit/>
          </a:bodyPr>
          <a:lstStyle/>
          <a:p>
            <a:pPr algn="l">
              <a:lnSpc>
                <a:spcPts val="6937"/>
              </a:lnSpc>
            </a:pPr>
            <a:r>
              <a:rPr lang="en-US" sz="5562" b="1" dirty="0">
                <a:solidFill>
                  <a:srgbClr val="124E73"/>
                </a:solidFill>
                <a:latin typeface="Museo Moderno Bold"/>
                <a:ea typeface="Museo Moderno Bold"/>
                <a:cs typeface="Museo Moderno Bold"/>
                <a:sym typeface="Museo Moderno Bold"/>
              </a:rPr>
              <a:t>Bridging Data and Understanding</a:t>
            </a:r>
          </a:p>
        </p:txBody>
      </p:sp>
      <p:grpSp>
        <p:nvGrpSpPr>
          <p:cNvPr id="10" name="Group 10"/>
          <p:cNvGrpSpPr/>
          <p:nvPr/>
        </p:nvGrpSpPr>
        <p:grpSpPr>
          <a:xfrm>
            <a:off x="992238" y="3187598"/>
            <a:ext cx="2209800" cy="2209800"/>
            <a:chOff x="0" y="0"/>
            <a:chExt cx="2946400" cy="2946400"/>
          </a:xfrm>
        </p:grpSpPr>
        <p:sp>
          <p:nvSpPr>
            <p:cNvPr id="11" name="Freeform 11" descr="preencoded.png"/>
            <p:cNvSpPr/>
            <p:nvPr/>
          </p:nvSpPr>
          <p:spPr>
            <a:xfrm>
              <a:off x="0" y="0"/>
              <a:ext cx="2946400" cy="2946400"/>
            </a:xfrm>
            <a:custGeom>
              <a:avLst/>
              <a:gdLst/>
              <a:ahLst/>
              <a:cxnLst/>
              <a:rect l="l" t="t" r="r" b="b"/>
              <a:pathLst>
                <a:path w="2946400" h="2946400">
                  <a:moveTo>
                    <a:pt x="0" y="0"/>
                  </a:moveTo>
                  <a:lnTo>
                    <a:pt x="2946400" y="0"/>
                  </a:lnTo>
                  <a:lnTo>
                    <a:pt x="2946400" y="2946400"/>
                  </a:lnTo>
                  <a:lnTo>
                    <a:pt x="0" y="2946400"/>
                  </a:lnTo>
                  <a:lnTo>
                    <a:pt x="0" y="0"/>
                  </a:lnTo>
                  <a:close/>
                </a:path>
              </a:pathLst>
            </a:custGeom>
            <a:blipFill>
              <a:blip r:embed="rId3"/>
              <a:stretch>
                <a:fillRect/>
              </a:stretch>
            </a:blipFill>
          </p:spPr>
        </p:sp>
      </p:grpSp>
      <p:sp>
        <p:nvSpPr>
          <p:cNvPr id="12" name="TextBox 12"/>
          <p:cNvSpPr txBox="1"/>
          <p:nvPr/>
        </p:nvSpPr>
        <p:spPr>
          <a:xfrm>
            <a:off x="992238" y="5742232"/>
            <a:ext cx="3810000" cy="895350"/>
          </a:xfrm>
          <a:prstGeom prst="rect">
            <a:avLst/>
          </a:prstGeom>
        </p:spPr>
        <p:txBody>
          <a:bodyPr lIns="0" tIns="0" rIns="0" bIns="0" rtlCol="0" anchor="t">
            <a:spAutoFit/>
          </a:bodyPr>
          <a:lstStyle/>
          <a:p>
            <a:pPr algn="l">
              <a:lnSpc>
                <a:spcPts val="3437"/>
              </a:lnSpc>
            </a:pPr>
            <a:r>
              <a:rPr lang="en-US" sz="2750" b="1" dirty="0">
                <a:solidFill>
                  <a:srgbClr val="2B4150"/>
                </a:solidFill>
                <a:latin typeface="Museo Moderno Bold"/>
                <a:ea typeface="Museo Moderno Bold"/>
                <a:cs typeface="Museo Moderno Bold"/>
                <a:sym typeface="Museo Moderno Bold"/>
              </a:rPr>
              <a:t>Awareness-Focused Platform</a:t>
            </a:r>
          </a:p>
        </p:txBody>
      </p:sp>
      <p:sp>
        <p:nvSpPr>
          <p:cNvPr id="13" name="TextBox 13"/>
          <p:cNvSpPr txBox="1"/>
          <p:nvPr/>
        </p:nvSpPr>
        <p:spPr>
          <a:xfrm>
            <a:off x="992238" y="6721973"/>
            <a:ext cx="3810000" cy="2353866"/>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AIR AWARE transforms complex air quality data into accessible, meaningful insights for everyday users through an intuitive web-based interface.</a:t>
            </a:r>
          </a:p>
        </p:txBody>
      </p:sp>
      <p:grpSp>
        <p:nvGrpSpPr>
          <p:cNvPr id="14" name="Group 14"/>
          <p:cNvGrpSpPr/>
          <p:nvPr/>
        </p:nvGrpSpPr>
        <p:grpSpPr>
          <a:xfrm>
            <a:off x="5156597" y="3187598"/>
            <a:ext cx="2209800" cy="2209800"/>
            <a:chOff x="0" y="0"/>
            <a:chExt cx="2946400" cy="2946400"/>
          </a:xfrm>
        </p:grpSpPr>
        <p:sp>
          <p:nvSpPr>
            <p:cNvPr id="15" name="Freeform 15" descr="preencoded.png"/>
            <p:cNvSpPr/>
            <p:nvPr/>
          </p:nvSpPr>
          <p:spPr>
            <a:xfrm>
              <a:off x="0" y="0"/>
              <a:ext cx="2946400" cy="2946400"/>
            </a:xfrm>
            <a:custGeom>
              <a:avLst/>
              <a:gdLst/>
              <a:ahLst/>
              <a:cxnLst/>
              <a:rect l="l" t="t" r="r" b="b"/>
              <a:pathLst>
                <a:path w="2946400" h="2946400">
                  <a:moveTo>
                    <a:pt x="0" y="0"/>
                  </a:moveTo>
                  <a:lnTo>
                    <a:pt x="2946400" y="0"/>
                  </a:lnTo>
                  <a:lnTo>
                    <a:pt x="2946400" y="2946400"/>
                  </a:lnTo>
                  <a:lnTo>
                    <a:pt x="0" y="2946400"/>
                  </a:lnTo>
                  <a:lnTo>
                    <a:pt x="0" y="0"/>
                  </a:lnTo>
                  <a:close/>
                </a:path>
              </a:pathLst>
            </a:custGeom>
            <a:blipFill>
              <a:blip r:embed="rId4"/>
              <a:stretch>
                <a:fillRect/>
              </a:stretch>
            </a:blipFill>
          </p:spPr>
        </p:sp>
      </p:grpSp>
      <p:sp>
        <p:nvSpPr>
          <p:cNvPr id="16" name="TextBox 16"/>
          <p:cNvSpPr txBox="1"/>
          <p:nvPr/>
        </p:nvSpPr>
        <p:spPr>
          <a:xfrm>
            <a:off x="5156596" y="5737291"/>
            <a:ext cx="4164501" cy="436017"/>
          </a:xfrm>
          <a:prstGeom prst="rect">
            <a:avLst/>
          </a:prstGeom>
        </p:spPr>
        <p:txBody>
          <a:bodyPr wrap="square" lIns="0" tIns="0" rIns="0" bIns="0" rtlCol="0" anchor="t">
            <a:spAutoFit/>
          </a:bodyPr>
          <a:lstStyle/>
          <a:p>
            <a:pPr algn="l">
              <a:lnSpc>
                <a:spcPts val="3437"/>
              </a:lnSpc>
            </a:pPr>
            <a:r>
              <a:rPr lang="en-US" sz="2750" b="1" dirty="0">
                <a:solidFill>
                  <a:srgbClr val="2B4150"/>
                </a:solidFill>
                <a:latin typeface="Museo Moderno Bold"/>
                <a:ea typeface="Museo Moderno Bold"/>
                <a:cs typeface="Museo Moderno Bold"/>
                <a:sym typeface="Museo Moderno Bold"/>
              </a:rPr>
              <a:t>Interactive Dashboard</a:t>
            </a:r>
          </a:p>
        </p:txBody>
      </p:sp>
      <p:sp>
        <p:nvSpPr>
          <p:cNvPr id="17" name="TextBox 17"/>
          <p:cNvSpPr txBox="1"/>
          <p:nvPr/>
        </p:nvSpPr>
        <p:spPr>
          <a:xfrm>
            <a:off x="5136942" y="6347667"/>
            <a:ext cx="3810152" cy="1815433"/>
          </a:xfrm>
          <a:prstGeom prst="rect">
            <a:avLst/>
          </a:prstGeom>
        </p:spPr>
        <p:txBody>
          <a:bodyPr lIns="0" tIns="0" rIns="0" bIns="0" rtlCol="0" anchor="t">
            <a:spAutoFit/>
          </a:bodyPr>
          <a:lstStyle/>
          <a:p>
            <a:pPr algn="l">
              <a:lnSpc>
                <a:spcPts val="3562"/>
              </a:lnSpc>
            </a:pPr>
            <a:r>
              <a:rPr lang="en-US" sz="2187" dirty="0">
                <a:solidFill>
                  <a:srgbClr val="2B4150"/>
                </a:solidFill>
                <a:latin typeface="Source Sans 3"/>
                <a:ea typeface="Source Sans 3"/>
                <a:cs typeface="Source Sans 3"/>
                <a:sym typeface="Source Sans 3"/>
              </a:rPr>
              <a:t>Real-time AQI visualization with city wise data, color-coded indicators, and comprehensive pollutant breakdowns.</a:t>
            </a:r>
          </a:p>
        </p:txBody>
      </p:sp>
      <p:grpSp>
        <p:nvGrpSpPr>
          <p:cNvPr id="18" name="Group 18"/>
          <p:cNvGrpSpPr/>
          <p:nvPr/>
        </p:nvGrpSpPr>
        <p:grpSpPr>
          <a:xfrm>
            <a:off x="9321108" y="3187598"/>
            <a:ext cx="2209800" cy="2209800"/>
            <a:chOff x="0" y="0"/>
            <a:chExt cx="2946400" cy="2946400"/>
          </a:xfrm>
        </p:grpSpPr>
        <p:sp>
          <p:nvSpPr>
            <p:cNvPr id="19" name="Freeform 19" descr="preencoded.png"/>
            <p:cNvSpPr/>
            <p:nvPr/>
          </p:nvSpPr>
          <p:spPr>
            <a:xfrm>
              <a:off x="0" y="0"/>
              <a:ext cx="2946400" cy="2946400"/>
            </a:xfrm>
            <a:custGeom>
              <a:avLst/>
              <a:gdLst/>
              <a:ahLst/>
              <a:cxnLst/>
              <a:rect l="l" t="t" r="r" b="b"/>
              <a:pathLst>
                <a:path w="2946400" h="2946400">
                  <a:moveTo>
                    <a:pt x="0" y="0"/>
                  </a:moveTo>
                  <a:lnTo>
                    <a:pt x="2946400" y="0"/>
                  </a:lnTo>
                  <a:lnTo>
                    <a:pt x="2946400" y="2946400"/>
                  </a:lnTo>
                  <a:lnTo>
                    <a:pt x="0" y="2946400"/>
                  </a:lnTo>
                  <a:lnTo>
                    <a:pt x="0" y="0"/>
                  </a:lnTo>
                  <a:close/>
                </a:path>
              </a:pathLst>
            </a:custGeom>
            <a:blipFill>
              <a:blip r:embed="rId5"/>
              <a:stretch>
                <a:fillRect/>
              </a:stretch>
            </a:blipFill>
          </p:spPr>
        </p:sp>
      </p:grpSp>
      <p:sp>
        <p:nvSpPr>
          <p:cNvPr id="20" name="TextBox 20"/>
          <p:cNvSpPr txBox="1"/>
          <p:nvPr/>
        </p:nvSpPr>
        <p:spPr>
          <a:xfrm>
            <a:off x="9321108" y="5742232"/>
            <a:ext cx="3544043"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Smart Assistance</a:t>
            </a:r>
          </a:p>
        </p:txBody>
      </p:sp>
      <p:sp>
        <p:nvSpPr>
          <p:cNvPr id="21" name="TextBox 21"/>
          <p:cNvSpPr txBox="1"/>
          <p:nvPr/>
        </p:nvSpPr>
        <p:spPr>
          <a:xfrm>
            <a:off x="9321108" y="6279061"/>
            <a:ext cx="3810152" cy="1900237"/>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AI-powered chatbot for guided queries and voice-based alerts ensure accessibility and immediate health guidance.</a:t>
            </a:r>
          </a:p>
        </p:txBody>
      </p:sp>
      <p:grpSp>
        <p:nvGrpSpPr>
          <p:cNvPr id="22" name="Group 22"/>
          <p:cNvGrpSpPr/>
          <p:nvPr/>
        </p:nvGrpSpPr>
        <p:grpSpPr>
          <a:xfrm>
            <a:off x="13485609" y="3187598"/>
            <a:ext cx="2209800" cy="2209800"/>
            <a:chOff x="0" y="0"/>
            <a:chExt cx="2946400" cy="2946400"/>
          </a:xfrm>
        </p:grpSpPr>
        <p:sp>
          <p:nvSpPr>
            <p:cNvPr id="23" name="Freeform 23" descr="preencoded.png"/>
            <p:cNvSpPr/>
            <p:nvPr/>
          </p:nvSpPr>
          <p:spPr>
            <a:xfrm>
              <a:off x="0" y="0"/>
              <a:ext cx="2946400" cy="2946400"/>
            </a:xfrm>
            <a:custGeom>
              <a:avLst/>
              <a:gdLst/>
              <a:ahLst/>
              <a:cxnLst/>
              <a:rect l="l" t="t" r="r" b="b"/>
              <a:pathLst>
                <a:path w="2946400" h="2946400">
                  <a:moveTo>
                    <a:pt x="0" y="0"/>
                  </a:moveTo>
                  <a:lnTo>
                    <a:pt x="2946400" y="0"/>
                  </a:lnTo>
                  <a:lnTo>
                    <a:pt x="2946400" y="2946400"/>
                  </a:lnTo>
                  <a:lnTo>
                    <a:pt x="0" y="2946400"/>
                  </a:lnTo>
                  <a:lnTo>
                    <a:pt x="0" y="0"/>
                  </a:lnTo>
                  <a:close/>
                </a:path>
              </a:pathLst>
            </a:custGeom>
            <a:blipFill>
              <a:blip r:embed="rId6"/>
              <a:stretch>
                <a:fillRect/>
              </a:stretch>
            </a:blipFill>
          </p:spPr>
        </p:sp>
      </p:grpSp>
      <p:sp>
        <p:nvSpPr>
          <p:cNvPr id="24" name="TextBox 24"/>
          <p:cNvSpPr txBox="1"/>
          <p:nvPr/>
        </p:nvSpPr>
        <p:spPr>
          <a:xfrm>
            <a:off x="13485609" y="5742232"/>
            <a:ext cx="3544043"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Educational Content</a:t>
            </a:r>
          </a:p>
        </p:txBody>
      </p:sp>
      <p:sp>
        <p:nvSpPr>
          <p:cNvPr id="25" name="TextBox 25"/>
          <p:cNvSpPr txBox="1"/>
          <p:nvPr/>
        </p:nvSpPr>
        <p:spPr>
          <a:xfrm>
            <a:off x="13485609" y="6279061"/>
            <a:ext cx="3810152" cy="2353866"/>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Curated blog module delivering evidence-based articles on air quality impacts, prevention strategies, and environmental awareness.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8EA90B23-6E39-E465-2F0C-A3950835F415}"/>
              </a:ext>
            </a:extLst>
          </p:cNvPr>
          <p:cNvGrpSpPr/>
          <p:nvPr/>
        </p:nvGrpSpPr>
        <p:grpSpPr>
          <a:xfrm>
            <a:off x="-12700" y="-12700"/>
            <a:ext cx="18288000" cy="10287000"/>
            <a:chOff x="0" y="0"/>
            <a:chExt cx="24384000" cy="13716000"/>
          </a:xfrm>
        </p:grpSpPr>
        <p:sp>
          <p:nvSpPr>
            <p:cNvPr id="3" name="Freeform 5">
              <a:extLst>
                <a:ext uri="{FF2B5EF4-FFF2-40B4-BE49-F238E27FC236}">
                  <a16:creationId xmlns:a16="http://schemas.microsoft.com/office/drawing/2014/main" id="{3E038629-7C2A-465D-3009-2D65EE91C247}"/>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IN" dirty="0"/>
            </a:p>
          </p:txBody>
        </p:sp>
      </p:grpSp>
      <p:sp>
        <p:nvSpPr>
          <p:cNvPr id="5" name="TextBox 4">
            <a:extLst>
              <a:ext uri="{FF2B5EF4-FFF2-40B4-BE49-F238E27FC236}">
                <a16:creationId xmlns:a16="http://schemas.microsoft.com/office/drawing/2014/main" id="{2DBE2DE5-AA4B-94A8-85A0-DD81141999DC}"/>
              </a:ext>
            </a:extLst>
          </p:cNvPr>
          <p:cNvSpPr txBox="1"/>
          <p:nvPr/>
        </p:nvSpPr>
        <p:spPr>
          <a:xfrm>
            <a:off x="762000" y="571500"/>
            <a:ext cx="9347200" cy="707886"/>
          </a:xfrm>
          <a:prstGeom prst="rect">
            <a:avLst/>
          </a:prstGeom>
          <a:noFill/>
        </p:spPr>
        <p:txBody>
          <a:bodyPr wrap="square">
            <a:spAutoFit/>
          </a:bodyPr>
          <a:lstStyle/>
          <a:p>
            <a:r>
              <a:rPr lang="en-US" sz="4000" b="1" dirty="0">
                <a:solidFill>
                  <a:srgbClr val="124E73"/>
                </a:solidFill>
                <a:latin typeface="Museo Moderno Bold"/>
                <a:sym typeface="Museo Moderno Bold"/>
              </a:rPr>
              <a:t>Activity Diagram :</a:t>
            </a:r>
            <a:endParaRPr lang="en-IN" sz="4000" dirty="0"/>
          </a:p>
        </p:txBody>
      </p:sp>
      <p:pic>
        <p:nvPicPr>
          <p:cNvPr id="7" name="Picture 6">
            <a:extLst>
              <a:ext uri="{FF2B5EF4-FFF2-40B4-BE49-F238E27FC236}">
                <a16:creationId xmlns:a16="http://schemas.microsoft.com/office/drawing/2014/main" id="{A6DE83D4-D168-A348-3CB7-7B8C67291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104900"/>
            <a:ext cx="6400800" cy="9029700"/>
          </a:xfrm>
          <a:prstGeom prst="rect">
            <a:avLst/>
          </a:prstGeom>
        </p:spPr>
      </p:pic>
    </p:spTree>
    <p:extLst>
      <p:ext uri="{BB962C8B-B14F-4D97-AF65-F5344CB8AC3E}">
        <p14:creationId xmlns:p14="http://schemas.microsoft.com/office/powerpoint/2010/main" val="3262965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sp>
        <p:nvSpPr>
          <p:cNvPr id="6" name="TextBox 6"/>
          <p:cNvSpPr txBox="1"/>
          <p:nvPr/>
        </p:nvSpPr>
        <p:spPr>
          <a:xfrm>
            <a:off x="992238" y="1803197"/>
            <a:ext cx="7088238" cy="914552"/>
          </a:xfrm>
          <a:prstGeom prst="rect">
            <a:avLst/>
          </a:prstGeom>
        </p:spPr>
        <p:txBody>
          <a:bodyPr lIns="0" tIns="0" rIns="0" bIns="0" rtlCol="0" anchor="t">
            <a:spAutoFit/>
          </a:bodyPr>
          <a:lstStyle/>
          <a:p>
            <a:pPr algn="l">
              <a:lnSpc>
                <a:spcPts val="6937"/>
              </a:lnSpc>
            </a:pPr>
            <a:r>
              <a:rPr lang="en-US" sz="5562" b="1">
                <a:solidFill>
                  <a:srgbClr val="124E73"/>
                </a:solidFill>
                <a:latin typeface="Museo Moderno Bold"/>
                <a:ea typeface="Museo Moderno Bold"/>
                <a:cs typeface="Museo Moderno Bold"/>
                <a:sym typeface="Museo Moderno Bold"/>
              </a:rPr>
              <a:t>Goals &amp; Objectives</a:t>
            </a:r>
          </a:p>
        </p:txBody>
      </p:sp>
      <p:grpSp>
        <p:nvGrpSpPr>
          <p:cNvPr id="7" name="Group 7"/>
          <p:cNvGrpSpPr/>
          <p:nvPr/>
        </p:nvGrpSpPr>
        <p:grpSpPr>
          <a:xfrm>
            <a:off x="992238" y="3461890"/>
            <a:ext cx="3761184" cy="2643635"/>
            <a:chOff x="0" y="0"/>
            <a:chExt cx="5014912" cy="3524847"/>
          </a:xfrm>
        </p:grpSpPr>
        <p:sp>
          <p:nvSpPr>
            <p:cNvPr id="8" name="Freeform 8"/>
            <p:cNvSpPr/>
            <p:nvPr/>
          </p:nvSpPr>
          <p:spPr>
            <a:xfrm>
              <a:off x="0" y="0"/>
              <a:ext cx="5014976" cy="3524885"/>
            </a:xfrm>
            <a:custGeom>
              <a:avLst/>
              <a:gdLst/>
              <a:ahLst/>
              <a:cxnLst/>
              <a:rect l="l" t="t" r="r" b="b"/>
              <a:pathLst>
                <a:path w="5014976" h="3524885">
                  <a:moveTo>
                    <a:pt x="0" y="56769"/>
                  </a:moveTo>
                  <a:cubicBezTo>
                    <a:pt x="0" y="25400"/>
                    <a:pt x="25400" y="0"/>
                    <a:pt x="56769" y="0"/>
                  </a:cubicBezTo>
                  <a:lnTo>
                    <a:pt x="4958207" y="0"/>
                  </a:lnTo>
                  <a:cubicBezTo>
                    <a:pt x="4989576" y="0"/>
                    <a:pt x="5014976" y="25400"/>
                    <a:pt x="5014976" y="56769"/>
                  </a:cubicBezTo>
                  <a:lnTo>
                    <a:pt x="5014976" y="3468116"/>
                  </a:lnTo>
                  <a:cubicBezTo>
                    <a:pt x="5014976" y="3499485"/>
                    <a:pt x="4989576" y="3524885"/>
                    <a:pt x="4958207" y="3524885"/>
                  </a:cubicBezTo>
                  <a:lnTo>
                    <a:pt x="56769" y="3524885"/>
                  </a:lnTo>
                  <a:cubicBezTo>
                    <a:pt x="25400" y="3524885"/>
                    <a:pt x="0" y="3499485"/>
                    <a:pt x="0" y="3468116"/>
                  </a:cubicBezTo>
                  <a:close/>
                </a:path>
              </a:pathLst>
            </a:custGeom>
            <a:solidFill>
              <a:srgbClr val="F3EEE3"/>
            </a:solidFill>
          </p:spPr>
        </p:sp>
      </p:grpSp>
      <p:sp>
        <p:nvSpPr>
          <p:cNvPr id="9" name="TextBox 9"/>
          <p:cNvSpPr txBox="1"/>
          <p:nvPr/>
        </p:nvSpPr>
        <p:spPr>
          <a:xfrm>
            <a:off x="1275759" y="3735886"/>
            <a:ext cx="3194152" cy="895350"/>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Comprehensive Coverage</a:t>
            </a:r>
          </a:p>
        </p:txBody>
      </p:sp>
      <p:sp>
        <p:nvSpPr>
          <p:cNvPr id="10" name="TextBox 10"/>
          <p:cNvSpPr txBox="1"/>
          <p:nvPr/>
        </p:nvSpPr>
        <p:spPr>
          <a:xfrm>
            <a:off x="1275759" y="4829023"/>
            <a:ext cx="3194152" cy="892104"/>
          </a:xfrm>
          <a:prstGeom prst="rect">
            <a:avLst/>
          </a:prstGeom>
        </p:spPr>
        <p:txBody>
          <a:bodyPr lIns="0" tIns="0" rIns="0" bIns="0" rtlCol="0" anchor="t">
            <a:spAutoFit/>
          </a:bodyPr>
          <a:lstStyle/>
          <a:p>
            <a:pPr algn="l">
              <a:lnSpc>
                <a:spcPts val="3562"/>
              </a:lnSpc>
            </a:pPr>
            <a:r>
              <a:rPr lang="en-US" sz="2187" dirty="0">
                <a:solidFill>
                  <a:srgbClr val="2B4150"/>
                </a:solidFill>
                <a:latin typeface="Source Sans 3"/>
                <a:ea typeface="Source Sans 3"/>
                <a:cs typeface="Source Sans 3"/>
                <a:sym typeface="Source Sans 3"/>
              </a:rPr>
              <a:t>City wise AQI monitoring across India</a:t>
            </a:r>
          </a:p>
        </p:txBody>
      </p:sp>
      <p:grpSp>
        <p:nvGrpSpPr>
          <p:cNvPr id="11" name="Group 11"/>
          <p:cNvGrpSpPr/>
          <p:nvPr/>
        </p:nvGrpSpPr>
        <p:grpSpPr>
          <a:xfrm>
            <a:off x="5036934" y="3461890"/>
            <a:ext cx="3761184" cy="2643635"/>
            <a:chOff x="0" y="0"/>
            <a:chExt cx="5014912" cy="3524847"/>
          </a:xfrm>
        </p:grpSpPr>
        <p:sp>
          <p:nvSpPr>
            <p:cNvPr id="12" name="Freeform 12"/>
            <p:cNvSpPr/>
            <p:nvPr/>
          </p:nvSpPr>
          <p:spPr>
            <a:xfrm>
              <a:off x="0" y="0"/>
              <a:ext cx="5014976" cy="3524885"/>
            </a:xfrm>
            <a:custGeom>
              <a:avLst/>
              <a:gdLst/>
              <a:ahLst/>
              <a:cxnLst/>
              <a:rect l="l" t="t" r="r" b="b"/>
              <a:pathLst>
                <a:path w="5014976" h="3524885">
                  <a:moveTo>
                    <a:pt x="0" y="56769"/>
                  </a:moveTo>
                  <a:cubicBezTo>
                    <a:pt x="0" y="25400"/>
                    <a:pt x="25400" y="0"/>
                    <a:pt x="56769" y="0"/>
                  </a:cubicBezTo>
                  <a:lnTo>
                    <a:pt x="4958207" y="0"/>
                  </a:lnTo>
                  <a:cubicBezTo>
                    <a:pt x="4989576" y="0"/>
                    <a:pt x="5014976" y="25400"/>
                    <a:pt x="5014976" y="56769"/>
                  </a:cubicBezTo>
                  <a:lnTo>
                    <a:pt x="5014976" y="3468116"/>
                  </a:lnTo>
                  <a:cubicBezTo>
                    <a:pt x="5014976" y="3499485"/>
                    <a:pt x="4989576" y="3524885"/>
                    <a:pt x="4958207" y="3524885"/>
                  </a:cubicBezTo>
                  <a:lnTo>
                    <a:pt x="56769" y="3524885"/>
                  </a:lnTo>
                  <a:cubicBezTo>
                    <a:pt x="25400" y="3524885"/>
                    <a:pt x="0" y="3499485"/>
                    <a:pt x="0" y="3468116"/>
                  </a:cubicBezTo>
                  <a:close/>
                </a:path>
              </a:pathLst>
            </a:custGeom>
            <a:solidFill>
              <a:srgbClr val="F3EEE3"/>
            </a:solidFill>
          </p:spPr>
        </p:sp>
      </p:grpSp>
      <p:sp>
        <p:nvSpPr>
          <p:cNvPr id="13" name="TextBox 13"/>
          <p:cNvSpPr txBox="1"/>
          <p:nvPr/>
        </p:nvSpPr>
        <p:spPr>
          <a:xfrm>
            <a:off x="5320455" y="3735886"/>
            <a:ext cx="3194152"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Visual Clarity</a:t>
            </a:r>
          </a:p>
        </p:txBody>
      </p:sp>
      <p:sp>
        <p:nvSpPr>
          <p:cNvPr id="14" name="TextBox 14"/>
          <p:cNvSpPr txBox="1"/>
          <p:nvPr/>
        </p:nvSpPr>
        <p:spPr>
          <a:xfrm>
            <a:off x="5320455" y="4386110"/>
            <a:ext cx="3194152" cy="992981"/>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Intuitive color-coded representations and charts</a:t>
            </a:r>
          </a:p>
        </p:txBody>
      </p:sp>
      <p:grpSp>
        <p:nvGrpSpPr>
          <p:cNvPr id="15" name="Group 15"/>
          <p:cNvGrpSpPr/>
          <p:nvPr/>
        </p:nvGrpSpPr>
        <p:grpSpPr>
          <a:xfrm>
            <a:off x="992238" y="6389046"/>
            <a:ext cx="7805890" cy="1747095"/>
            <a:chOff x="0" y="0"/>
            <a:chExt cx="10407853" cy="2329459"/>
          </a:xfrm>
        </p:grpSpPr>
        <p:sp>
          <p:nvSpPr>
            <p:cNvPr id="16" name="Freeform 16"/>
            <p:cNvSpPr/>
            <p:nvPr/>
          </p:nvSpPr>
          <p:spPr>
            <a:xfrm>
              <a:off x="0" y="0"/>
              <a:ext cx="10407777" cy="2329434"/>
            </a:xfrm>
            <a:custGeom>
              <a:avLst/>
              <a:gdLst/>
              <a:ahLst/>
              <a:cxnLst/>
              <a:rect l="l" t="t" r="r" b="b"/>
              <a:pathLst>
                <a:path w="10407777" h="2329434">
                  <a:moveTo>
                    <a:pt x="0" y="56642"/>
                  </a:moveTo>
                  <a:cubicBezTo>
                    <a:pt x="0" y="25400"/>
                    <a:pt x="25400" y="0"/>
                    <a:pt x="56642" y="0"/>
                  </a:cubicBezTo>
                  <a:lnTo>
                    <a:pt x="10351135" y="0"/>
                  </a:lnTo>
                  <a:cubicBezTo>
                    <a:pt x="10382503" y="0"/>
                    <a:pt x="10407777" y="25400"/>
                    <a:pt x="10407777" y="56642"/>
                  </a:cubicBezTo>
                  <a:lnTo>
                    <a:pt x="10407777" y="2272792"/>
                  </a:lnTo>
                  <a:cubicBezTo>
                    <a:pt x="10407777" y="2304161"/>
                    <a:pt x="10382377" y="2329434"/>
                    <a:pt x="10351135" y="2329434"/>
                  </a:cubicBezTo>
                  <a:lnTo>
                    <a:pt x="56642" y="2329434"/>
                  </a:lnTo>
                  <a:cubicBezTo>
                    <a:pt x="25273" y="2329434"/>
                    <a:pt x="0" y="2304034"/>
                    <a:pt x="0" y="2272792"/>
                  </a:cubicBezTo>
                  <a:close/>
                </a:path>
              </a:pathLst>
            </a:custGeom>
            <a:solidFill>
              <a:srgbClr val="F3EEE3"/>
            </a:solidFill>
          </p:spPr>
        </p:sp>
      </p:grpSp>
      <p:sp>
        <p:nvSpPr>
          <p:cNvPr id="17" name="TextBox 17"/>
          <p:cNvSpPr txBox="1"/>
          <p:nvPr/>
        </p:nvSpPr>
        <p:spPr>
          <a:xfrm>
            <a:off x="1275759" y="6663033"/>
            <a:ext cx="3544043"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Health Guidance</a:t>
            </a:r>
          </a:p>
        </p:txBody>
      </p:sp>
      <p:sp>
        <p:nvSpPr>
          <p:cNvPr id="18" name="TextBox 18"/>
          <p:cNvSpPr txBox="1"/>
          <p:nvPr/>
        </p:nvSpPr>
        <p:spPr>
          <a:xfrm>
            <a:off x="1275759" y="7313266"/>
            <a:ext cx="7238848" cy="539353"/>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Personalized safety recommendations based on AQI levels</a:t>
            </a:r>
          </a:p>
        </p:txBody>
      </p:sp>
      <p:grpSp>
        <p:nvGrpSpPr>
          <p:cNvPr id="19" name="Group 19"/>
          <p:cNvGrpSpPr/>
          <p:nvPr/>
        </p:nvGrpSpPr>
        <p:grpSpPr>
          <a:xfrm>
            <a:off x="9295209" y="3142955"/>
            <a:ext cx="8214274" cy="5312121"/>
            <a:chOff x="0" y="0"/>
            <a:chExt cx="10952366" cy="7082828"/>
          </a:xfrm>
        </p:grpSpPr>
        <p:sp>
          <p:nvSpPr>
            <p:cNvPr id="20" name="Freeform 20"/>
            <p:cNvSpPr/>
            <p:nvPr/>
          </p:nvSpPr>
          <p:spPr>
            <a:xfrm>
              <a:off x="0" y="0"/>
              <a:ext cx="10952352" cy="7082917"/>
            </a:xfrm>
            <a:custGeom>
              <a:avLst/>
              <a:gdLst/>
              <a:ahLst/>
              <a:cxnLst/>
              <a:rect l="l" t="t" r="r" b="b"/>
              <a:pathLst>
                <a:path w="10952352" h="7082917">
                  <a:moveTo>
                    <a:pt x="0" y="56769"/>
                  </a:moveTo>
                  <a:cubicBezTo>
                    <a:pt x="0" y="25400"/>
                    <a:pt x="25400" y="0"/>
                    <a:pt x="56769" y="0"/>
                  </a:cubicBezTo>
                  <a:lnTo>
                    <a:pt x="10895584" y="0"/>
                  </a:lnTo>
                  <a:cubicBezTo>
                    <a:pt x="10926952" y="0"/>
                    <a:pt x="10952352" y="25400"/>
                    <a:pt x="10952352" y="56769"/>
                  </a:cubicBezTo>
                  <a:lnTo>
                    <a:pt x="10952352" y="7026148"/>
                  </a:lnTo>
                  <a:cubicBezTo>
                    <a:pt x="10952352" y="7057517"/>
                    <a:pt x="10926952" y="7082917"/>
                    <a:pt x="10895584" y="7082917"/>
                  </a:cubicBezTo>
                  <a:lnTo>
                    <a:pt x="56769" y="7082917"/>
                  </a:lnTo>
                  <a:cubicBezTo>
                    <a:pt x="25400" y="7082790"/>
                    <a:pt x="0" y="7057390"/>
                    <a:pt x="0" y="7026148"/>
                  </a:cubicBezTo>
                  <a:close/>
                </a:path>
              </a:pathLst>
            </a:custGeom>
            <a:solidFill>
              <a:srgbClr val="325F7B"/>
            </a:solidFill>
          </p:spPr>
        </p:sp>
      </p:grpSp>
      <p:sp>
        <p:nvSpPr>
          <p:cNvPr id="21" name="TextBox 21"/>
          <p:cNvSpPr txBox="1"/>
          <p:nvPr/>
        </p:nvSpPr>
        <p:spPr>
          <a:xfrm>
            <a:off x="9578731" y="3407416"/>
            <a:ext cx="4252912" cy="550659"/>
          </a:xfrm>
          <a:prstGeom prst="rect">
            <a:avLst/>
          </a:prstGeom>
        </p:spPr>
        <p:txBody>
          <a:bodyPr lIns="0" tIns="0" rIns="0" bIns="0" rtlCol="0" anchor="t">
            <a:spAutoFit/>
          </a:bodyPr>
          <a:lstStyle/>
          <a:p>
            <a:pPr algn="l">
              <a:lnSpc>
                <a:spcPts val="4125"/>
              </a:lnSpc>
            </a:pPr>
            <a:r>
              <a:rPr lang="en-US" sz="3312" b="1">
                <a:solidFill>
                  <a:srgbClr val="FFFFFF"/>
                </a:solidFill>
                <a:latin typeface="Museo Moderno Bold"/>
                <a:ea typeface="Museo Moderno Bold"/>
                <a:cs typeface="Museo Moderno Bold"/>
                <a:sym typeface="Museo Moderno Bold"/>
              </a:rPr>
              <a:t>Core Mission</a:t>
            </a:r>
          </a:p>
        </p:txBody>
      </p:sp>
      <p:sp>
        <p:nvSpPr>
          <p:cNvPr id="22" name="TextBox 22"/>
          <p:cNvSpPr txBox="1"/>
          <p:nvPr/>
        </p:nvSpPr>
        <p:spPr>
          <a:xfrm>
            <a:off x="9578731" y="4155872"/>
            <a:ext cx="7647232" cy="1446609"/>
          </a:xfrm>
          <a:prstGeom prst="rect">
            <a:avLst/>
          </a:prstGeom>
        </p:spPr>
        <p:txBody>
          <a:bodyPr lIns="0" tIns="0" rIns="0" bIns="0" rtlCol="0" anchor="t">
            <a:spAutoFit/>
          </a:bodyPr>
          <a:lstStyle/>
          <a:p>
            <a:pPr algn="l">
              <a:lnSpc>
                <a:spcPts val="3562"/>
              </a:lnSpc>
            </a:pPr>
            <a:r>
              <a:rPr lang="en-US" sz="2187">
                <a:solidFill>
                  <a:srgbClr val="FFFFFF"/>
                </a:solidFill>
                <a:latin typeface="Source Sans 3"/>
                <a:ea typeface="Source Sans 3"/>
                <a:cs typeface="Source Sans 3"/>
                <a:sym typeface="Source Sans 3"/>
              </a:rPr>
              <a:t>Transform air quality data into actionable awareness that empowers individuals to make informed health decisions and contribute to environmental consciousness.</a:t>
            </a:r>
          </a:p>
        </p:txBody>
      </p:sp>
      <p:sp>
        <p:nvSpPr>
          <p:cNvPr id="23" name="TextBox 23"/>
          <p:cNvSpPr txBox="1"/>
          <p:nvPr/>
        </p:nvSpPr>
        <p:spPr>
          <a:xfrm>
            <a:off x="9578731" y="5771855"/>
            <a:ext cx="7647232" cy="1446609"/>
          </a:xfrm>
          <a:prstGeom prst="rect">
            <a:avLst/>
          </a:prstGeom>
        </p:spPr>
        <p:txBody>
          <a:bodyPr lIns="0" tIns="0" rIns="0" bIns="0" rtlCol="0" anchor="t">
            <a:spAutoFit/>
          </a:bodyPr>
          <a:lstStyle/>
          <a:p>
            <a:pPr algn="l">
              <a:lnSpc>
                <a:spcPts val="3562"/>
              </a:lnSpc>
            </a:pPr>
            <a:r>
              <a:rPr lang="en-US" sz="2187">
                <a:solidFill>
                  <a:srgbClr val="FFFFFF"/>
                </a:solidFill>
                <a:latin typeface="Source Sans 3"/>
                <a:ea typeface="Source Sans 3"/>
                <a:cs typeface="Source Sans 3"/>
                <a:sym typeface="Source Sans 3"/>
              </a:rPr>
              <a:t>Our platform bridges the gap between technical metrics and public understanding through intelligent assistance and educational resources.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sp>
        <p:nvSpPr>
          <p:cNvPr id="6" name="TextBox 6"/>
          <p:cNvSpPr txBox="1"/>
          <p:nvPr/>
        </p:nvSpPr>
        <p:spPr>
          <a:xfrm>
            <a:off x="992238" y="982713"/>
            <a:ext cx="7088238" cy="914552"/>
          </a:xfrm>
          <a:prstGeom prst="rect">
            <a:avLst/>
          </a:prstGeom>
        </p:spPr>
        <p:txBody>
          <a:bodyPr lIns="0" tIns="0" rIns="0" bIns="0" rtlCol="0" anchor="t">
            <a:spAutoFit/>
          </a:bodyPr>
          <a:lstStyle/>
          <a:p>
            <a:pPr algn="l">
              <a:lnSpc>
                <a:spcPts val="6937"/>
              </a:lnSpc>
            </a:pPr>
            <a:r>
              <a:rPr lang="en-US" sz="5562" b="1" dirty="0">
                <a:solidFill>
                  <a:srgbClr val="124E73"/>
                </a:solidFill>
                <a:latin typeface="Museo Moderno Bold"/>
                <a:ea typeface="Museo Moderno Bold"/>
                <a:cs typeface="Museo Moderno Bold"/>
                <a:sym typeface="Museo Moderno Bold"/>
              </a:rPr>
              <a:t>Target User Groups</a:t>
            </a:r>
          </a:p>
        </p:txBody>
      </p:sp>
      <p:sp>
        <p:nvSpPr>
          <p:cNvPr id="7" name="Freeform 7" descr="preencoded.png"/>
          <p:cNvSpPr/>
          <p:nvPr/>
        </p:nvSpPr>
        <p:spPr>
          <a:xfrm>
            <a:off x="992238" y="2464298"/>
            <a:ext cx="567033" cy="567033"/>
          </a:xfrm>
          <a:custGeom>
            <a:avLst/>
            <a:gdLst/>
            <a:ahLst/>
            <a:cxnLst/>
            <a:rect l="l" t="t" r="r" b="b"/>
            <a:pathLst>
              <a:path w="567033" h="567033">
                <a:moveTo>
                  <a:pt x="0" y="0"/>
                </a:moveTo>
                <a:lnTo>
                  <a:pt x="567033" y="0"/>
                </a:lnTo>
                <a:lnTo>
                  <a:pt x="567033" y="567033"/>
                </a:lnTo>
                <a:lnTo>
                  <a:pt x="0" y="567033"/>
                </a:lnTo>
                <a:lnTo>
                  <a:pt x="0" y="0"/>
                </a:lnTo>
                <a:close/>
              </a:path>
            </a:pathLst>
          </a:custGeom>
          <a:blipFill>
            <a:blip r:embed="rId3">
              <a:extLst>
                <a:ext uri="{96DAC541-7B7A-43D3-8B79-37D633B846F1}">
                  <asvg:svgBlip xmlns:asvg="http://schemas.microsoft.com/office/drawing/2016/SVG/main" r:embed="rId4"/>
                </a:ext>
              </a:extLst>
            </a:blip>
            <a:stretch>
              <a:fillRect l="-3332" r="-3334"/>
            </a:stretch>
          </a:blipFill>
        </p:spPr>
      </p:sp>
      <p:sp>
        <p:nvSpPr>
          <p:cNvPr id="8" name="TextBox 8"/>
          <p:cNvSpPr txBox="1"/>
          <p:nvPr/>
        </p:nvSpPr>
        <p:spPr>
          <a:xfrm>
            <a:off x="992238" y="3376165"/>
            <a:ext cx="3544043"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General Public</a:t>
            </a:r>
          </a:p>
        </p:txBody>
      </p:sp>
      <p:sp>
        <p:nvSpPr>
          <p:cNvPr id="9" name="TextBox 9"/>
          <p:cNvSpPr txBox="1"/>
          <p:nvPr/>
        </p:nvSpPr>
        <p:spPr>
          <a:xfrm>
            <a:off x="992238" y="3912984"/>
            <a:ext cx="5198269" cy="1446609"/>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Everyday citizens seeking to understand local air quality and protect their families from pollution exposure.</a:t>
            </a:r>
          </a:p>
        </p:txBody>
      </p:sp>
      <p:sp>
        <p:nvSpPr>
          <p:cNvPr id="10" name="Freeform 10" descr="preencoded.png"/>
          <p:cNvSpPr/>
          <p:nvPr/>
        </p:nvSpPr>
        <p:spPr>
          <a:xfrm>
            <a:off x="6544866" y="2464298"/>
            <a:ext cx="567033" cy="567033"/>
          </a:xfrm>
          <a:custGeom>
            <a:avLst/>
            <a:gdLst/>
            <a:ahLst/>
            <a:cxnLst/>
            <a:rect l="l" t="t" r="r" b="b"/>
            <a:pathLst>
              <a:path w="567033" h="567033">
                <a:moveTo>
                  <a:pt x="0" y="0"/>
                </a:moveTo>
                <a:lnTo>
                  <a:pt x="567032" y="0"/>
                </a:lnTo>
                <a:lnTo>
                  <a:pt x="567032" y="567033"/>
                </a:lnTo>
                <a:lnTo>
                  <a:pt x="0" y="567033"/>
                </a:lnTo>
                <a:lnTo>
                  <a:pt x="0" y="0"/>
                </a:lnTo>
                <a:close/>
              </a:path>
            </a:pathLst>
          </a:custGeom>
          <a:blipFill>
            <a:blip r:embed="rId5">
              <a:extLst>
                <a:ext uri="{96DAC541-7B7A-43D3-8B79-37D633B846F1}">
                  <asvg:svgBlip xmlns:asvg="http://schemas.microsoft.com/office/drawing/2016/SVG/main" r:embed="rId6"/>
                </a:ext>
              </a:extLst>
            </a:blip>
            <a:stretch>
              <a:fillRect l="-17500" r="-17500"/>
            </a:stretch>
          </a:blipFill>
        </p:spPr>
      </p:sp>
      <p:sp>
        <p:nvSpPr>
          <p:cNvPr id="11" name="TextBox 11"/>
          <p:cNvSpPr txBox="1"/>
          <p:nvPr/>
        </p:nvSpPr>
        <p:spPr>
          <a:xfrm>
            <a:off x="6544866" y="3392575"/>
            <a:ext cx="3970734" cy="436017"/>
          </a:xfrm>
          <a:prstGeom prst="rect">
            <a:avLst/>
          </a:prstGeom>
        </p:spPr>
        <p:txBody>
          <a:bodyPr wrap="square" lIns="0" tIns="0" rIns="0" bIns="0" rtlCol="0" anchor="t">
            <a:spAutoFit/>
          </a:bodyPr>
          <a:lstStyle/>
          <a:p>
            <a:pPr algn="l">
              <a:lnSpc>
                <a:spcPts val="3437"/>
              </a:lnSpc>
            </a:pPr>
            <a:r>
              <a:rPr lang="en-US" sz="2750" b="1" dirty="0">
                <a:solidFill>
                  <a:srgbClr val="2B4150"/>
                </a:solidFill>
                <a:latin typeface="Museo Moderno Bold"/>
                <a:ea typeface="Museo Moderno Bold"/>
                <a:cs typeface="Museo Moderno Bold"/>
                <a:sym typeface="Museo Moderno Bold"/>
              </a:rPr>
              <a:t>Students &amp; Educators</a:t>
            </a:r>
          </a:p>
        </p:txBody>
      </p:sp>
      <p:sp>
        <p:nvSpPr>
          <p:cNvPr id="12" name="TextBox 12"/>
          <p:cNvSpPr txBox="1"/>
          <p:nvPr/>
        </p:nvSpPr>
        <p:spPr>
          <a:xfrm>
            <a:off x="6544866" y="3912984"/>
            <a:ext cx="5198269" cy="1446609"/>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Academic communities using the platform for environmental education, research projects, and classroom learning.</a:t>
            </a:r>
          </a:p>
        </p:txBody>
      </p:sp>
      <p:sp>
        <p:nvSpPr>
          <p:cNvPr id="13" name="Freeform 13" descr="preencoded.png"/>
          <p:cNvSpPr/>
          <p:nvPr/>
        </p:nvSpPr>
        <p:spPr>
          <a:xfrm>
            <a:off x="12097493" y="2464298"/>
            <a:ext cx="567033" cy="567033"/>
          </a:xfrm>
          <a:custGeom>
            <a:avLst/>
            <a:gdLst/>
            <a:ahLst/>
            <a:cxnLst/>
            <a:rect l="l" t="t" r="r" b="b"/>
            <a:pathLst>
              <a:path w="567033" h="567033">
                <a:moveTo>
                  <a:pt x="0" y="0"/>
                </a:moveTo>
                <a:lnTo>
                  <a:pt x="567033" y="0"/>
                </a:lnTo>
                <a:lnTo>
                  <a:pt x="567033" y="567033"/>
                </a:lnTo>
                <a:lnTo>
                  <a:pt x="0" y="567033"/>
                </a:lnTo>
                <a:lnTo>
                  <a:pt x="0" y="0"/>
                </a:lnTo>
                <a:close/>
              </a:path>
            </a:pathLst>
          </a:custGeom>
          <a:blipFill>
            <a:blip r:embed="rId7">
              <a:extLst>
                <a:ext uri="{96DAC541-7B7A-43D3-8B79-37D633B846F1}">
                  <asvg:svgBlip xmlns:asvg="http://schemas.microsoft.com/office/drawing/2016/SVG/main" r:embed="rId8"/>
                </a:ext>
              </a:extLst>
            </a:blip>
            <a:stretch>
              <a:fillRect l="-6667" r="-6667"/>
            </a:stretch>
          </a:blipFill>
        </p:spPr>
      </p:sp>
      <p:sp>
        <p:nvSpPr>
          <p:cNvPr id="14" name="TextBox 14"/>
          <p:cNvSpPr txBox="1"/>
          <p:nvPr/>
        </p:nvSpPr>
        <p:spPr>
          <a:xfrm>
            <a:off x="12097493" y="3376165"/>
            <a:ext cx="5009998"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Health-Conscious Individuals</a:t>
            </a:r>
          </a:p>
        </p:txBody>
      </p:sp>
      <p:sp>
        <p:nvSpPr>
          <p:cNvPr id="15" name="TextBox 15"/>
          <p:cNvSpPr txBox="1"/>
          <p:nvPr/>
        </p:nvSpPr>
        <p:spPr>
          <a:xfrm>
            <a:off x="12097493" y="3912984"/>
            <a:ext cx="5198269" cy="1900237"/>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People with respiratory conditions, athletes, and outdoor enthusiasts who need reliable air quality information for activity planning.</a:t>
            </a:r>
          </a:p>
        </p:txBody>
      </p:sp>
      <p:sp>
        <p:nvSpPr>
          <p:cNvPr id="16" name="Freeform 16" descr="preencoded.png"/>
          <p:cNvSpPr/>
          <p:nvPr/>
        </p:nvSpPr>
        <p:spPr>
          <a:xfrm>
            <a:off x="992238" y="6380264"/>
            <a:ext cx="567033" cy="567033"/>
          </a:xfrm>
          <a:custGeom>
            <a:avLst/>
            <a:gdLst/>
            <a:ahLst/>
            <a:cxnLst/>
            <a:rect l="l" t="t" r="r" b="b"/>
            <a:pathLst>
              <a:path w="567033" h="567033">
                <a:moveTo>
                  <a:pt x="0" y="0"/>
                </a:moveTo>
                <a:lnTo>
                  <a:pt x="567033" y="0"/>
                </a:lnTo>
                <a:lnTo>
                  <a:pt x="567033" y="567033"/>
                </a:lnTo>
                <a:lnTo>
                  <a:pt x="0" y="567033"/>
                </a:lnTo>
                <a:lnTo>
                  <a:pt x="0" y="0"/>
                </a:lnTo>
                <a:close/>
              </a:path>
            </a:pathLst>
          </a:custGeom>
          <a:blipFill>
            <a:blip r:embed="rId9">
              <a:extLst>
                <a:ext uri="{96DAC541-7B7A-43D3-8B79-37D633B846F1}">
                  <asvg:svgBlip xmlns:asvg="http://schemas.microsoft.com/office/drawing/2016/SVG/main" r:embed="rId10"/>
                </a:ext>
              </a:extLst>
            </a:blip>
            <a:stretch>
              <a:fillRect t="-25000" b="-25000"/>
            </a:stretch>
          </a:blipFill>
        </p:spPr>
      </p:sp>
      <p:sp>
        <p:nvSpPr>
          <p:cNvPr id="17" name="TextBox 17"/>
          <p:cNvSpPr txBox="1"/>
          <p:nvPr/>
        </p:nvSpPr>
        <p:spPr>
          <a:xfrm>
            <a:off x="992238" y="7292130"/>
            <a:ext cx="5028752" cy="452437"/>
          </a:xfrm>
          <a:prstGeom prst="rect">
            <a:avLst/>
          </a:prstGeom>
        </p:spPr>
        <p:txBody>
          <a:bodyPr lIns="0" tIns="0" rIns="0" bIns="0" rtlCol="0" anchor="t">
            <a:spAutoFit/>
          </a:bodyPr>
          <a:lstStyle/>
          <a:p>
            <a:pPr algn="l">
              <a:lnSpc>
                <a:spcPts val="3437"/>
              </a:lnSpc>
            </a:pPr>
            <a:r>
              <a:rPr lang="en-US" sz="2750" b="1">
                <a:solidFill>
                  <a:srgbClr val="2B4150"/>
                </a:solidFill>
                <a:latin typeface="Museo Moderno Bold"/>
                <a:ea typeface="Museo Moderno Bold"/>
                <a:cs typeface="Museo Moderno Bold"/>
                <a:sym typeface="Museo Moderno Bold"/>
              </a:rPr>
              <a:t>Environmental Organizations</a:t>
            </a:r>
          </a:p>
        </p:txBody>
      </p:sp>
      <p:sp>
        <p:nvSpPr>
          <p:cNvPr id="18" name="TextBox 18"/>
          <p:cNvSpPr txBox="1"/>
          <p:nvPr/>
        </p:nvSpPr>
        <p:spPr>
          <a:xfrm>
            <a:off x="992238" y="7828959"/>
            <a:ext cx="5198269" cy="1446609"/>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NGOs and advocacy groups leveraging data-driven insights to support awareness campaigns and policy initiatives.</a:t>
            </a:r>
          </a:p>
        </p:txBody>
      </p:sp>
      <p:sp>
        <p:nvSpPr>
          <p:cNvPr id="19" name="Freeform 19" descr="preencoded.png"/>
          <p:cNvSpPr/>
          <p:nvPr/>
        </p:nvSpPr>
        <p:spPr>
          <a:xfrm>
            <a:off x="6544866" y="6380264"/>
            <a:ext cx="567033" cy="567033"/>
          </a:xfrm>
          <a:custGeom>
            <a:avLst/>
            <a:gdLst/>
            <a:ahLst/>
            <a:cxnLst/>
            <a:rect l="l" t="t" r="r" b="b"/>
            <a:pathLst>
              <a:path w="567033" h="567033">
                <a:moveTo>
                  <a:pt x="0" y="0"/>
                </a:moveTo>
                <a:lnTo>
                  <a:pt x="567032" y="0"/>
                </a:lnTo>
                <a:lnTo>
                  <a:pt x="567032" y="567033"/>
                </a:lnTo>
                <a:lnTo>
                  <a:pt x="0" y="567033"/>
                </a:lnTo>
                <a:lnTo>
                  <a:pt x="0" y="0"/>
                </a:lnTo>
                <a:close/>
              </a:path>
            </a:pathLst>
          </a:custGeom>
          <a:blipFill>
            <a:blip r:embed="rId11">
              <a:extLst>
                <a:ext uri="{96DAC541-7B7A-43D3-8B79-37D633B846F1}">
                  <asvg:svgBlip xmlns:asvg="http://schemas.microsoft.com/office/drawing/2016/SVG/main" r:embed="rId12"/>
                </a:ext>
              </a:extLst>
            </a:blip>
            <a:stretch>
              <a:fillRect t="-9999" b="-9999"/>
            </a:stretch>
          </a:blipFill>
        </p:spPr>
      </p:sp>
      <p:sp>
        <p:nvSpPr>
          <p:cNvPr id="20" name="TextBox 20"/>
          <p:cNvSpPr txBox="1"/>
          <p:nvPr/>
        </p:nvSpPr>
        <p:spPr>
          <a:xfrm>
            <a:off x="6544866" y="7292130"/>
            <a:ext cx="3818334" cy="452437"/>
          </a:xfrm>
          <a:prstGeom prst="rect">
            <a:avLst/>
          </a:prstGeom>
        </p:spPr>
        <p:txBody>
          <a:bodyPr wrap="square" lIns="0" tIns="0" rIns="0" bIns="0" rtlCol="0" anchor="t">
            <a:spAutoFit/>
          </a:bodyPr>
          <a:lstStyle/>
          <a:p>
            <a:pPr algn="l">
              <a:lnSpc>
                <a:spcPts val="3437"/>
              </a:lnSpc>
            </a:pPr>
            <a:r>
              <a:rPr lang="en-US" sz="2750" b="1" dirty="0">
                <a:solidFill>
                  <a:srgbClr val="2B4150"/>
                </a:solidFill>
                <a:latin typeface="Museo Moderno Bold"/>
                <a:ea typeface="Museo Moderno Bold"/>
                <a:cs typeface="Museo Moderno Bold"/>
                <a:sym typeface="Museo Moderno Bold"/>
              </a:rPr>
              <a:t>Academic Evaluators</a:t>
            </a:r>
          </a:p>
        </p:txBody>
      </p:sp>
      <p:sp>
        <p:nvSpPr>
          <p:cNvPr id="21" name="TextBox 21"/>
          <p:cNvSpPr txBox="1"/>
          <p:nvPr/>
        </p:nvSpPr>
        <p:spPr>
          <a:xfrm>
            <a:off x="6544866" y="7828959"/>
            <a:ext cx="5198269" cy="1446609"/>
          </a:xfrm>
          <a:prstGeom prst="rect">
            <a:avLst/>
          </a:prstGeom>
        </p:spPr>
        <p:txBody>
          <a:bodyPr lIns="0" tIns="0" rIns="0" bIns="0" rtlCol="0" anchor="t">
            <a:spAutoFit/>
          </a:bodyPr>
          <a:lstStyle/>
          <a:p>
            <a:pPr algn="l">
              <a:lnSpc>
                <a:spcPts val="3562"/>
              </a:lnSpc>
            </a:pPr>
            <a:r>
              <a:rPr lang="en-US" sz="2187">
                <a:solidFill>
                  <a:srgbClr val="2B4150"/>
                </a:solidFill>
                <a:latin typeface="Source Sans 3"/>
                <a:ea typeface="Source Sans 3"/>
                <a:cs typeface="Source Sans 3"/>
                <a:sym typeface="Source Sans 3"/>
              </a:rPr>
              <a:t>Faculty and reviewers assessing the technical implementation, user experience design, and societal impact of the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732682" y="243478"/>
            <a:ext cx="2101005" cy="466134"/>
            <a:chOff x="0" y="0"/>
            <a:chExt cx="2801341" cy="621513"/>
          </a:xfrm>
        </p:grpSpPr>
        <p:sp>
          <p:nvSpPr>
            <p:cNvPr id="7" name="Freeform 7"/>
            <p:cNvSpPr/>
            <p:nvPr/>
          </p:nvSpPr>
          <p:spPr>
            <a:xfrm>
              <a:off x="0" y="0"/>
              <a:ext cx="2801239" cy="621412"/>
            </a:xfrm>
            <a:custGeom>
              <a:avLst/>
              <a:gdLst/>
              <a:ahLst/>
              <a:cxnLst/>
              <a:rect l="l" t="t" r="r" b="b"/>
              <a:pathLst>
                <a:path w="2801239" h="621412">
                  <a:moveTo>
                    <a:pt x="0" y="45339"/>
                  </a:moveTo>
                  <a:cubicBezTo>
                    <a:pt x="0" y="20320"/>
                    <a:pt x="20320" y="0"/>
                    <a:pt x="45339" y="0"/>
                  </a:cubicBezTo>
                  <a:lnTo>
                    <a:pt x="2755900" y="0"/>
                  </a:lnTo>
                  <a:cubicBezTo>
                    <a:pt x="2780919" y="0"/>
                    <a:pt x="2801239" y="20320"/>
                    <a:pt x="2801239" y="45339"/>
                  </a:cubicBezTo>
                  <a:lnTo>
                    <a:pt x="2801239" y="576072"/>
                  </a:lnTo>
                  <a:cubicBezTo>
                    <a:pt x="2801239" y="601091"/>
                    <a:pt x="2780919" y="621411"/>
                    <a:pt x="2755900" y="621411"/>
                  </a:cubicBezTo>
                  <a:lnTo>
                    <a:pt x="45339" y="621411"/>
                  </a:lnTo>
                  <a:cubicBezTo>
                    <a:pt x="20320" y="621538"/>
                    <a:pt x="0" y="601218"/>
                    <a:pt x="0" y="576072"/>
                  </a:cubicBezTo>
                  <a:close/>
                </a:path>
              </a:pathLst>
            </a:custGeom>
            <a:solidFill>
              <a:srgbClr val="DBE8F0"/>
            </a:solidFill>
          </p:spPr>
        </p:sp>
      </p:grpSp>
      <p:sp>
        <p:nvSpPr>
          <p:cNvPr id="9" name="TextBox 9"/>
          <p:cNvSpPr txBox="1"/>
          <p:nvPr/>
        </p:nvSpPr>
        <p:spPr>
          <a:xfrm>
            <a:off x="946995" y="485879"/>
            <a:ext cx="1886616" cy="211596"/>
          </a:xfrm>
          <a:prstGeom prst="rect">
            <a:avLst/>
          </a:prstGeom>
        </p:spPr>
        <p:txBody>
          <a:bodyPr wrap="square" lIns="0" tIns="0" rIns="0" bIns="0" rtlCol="0" anchor="t">
            <a:spAutoFit/>
          </a:bodyPr>
          <a:lstStyle/>
          <a:p>
            <a:pPr algn="l">
              <a:lnSpc>
                <a:spcPts val="1437"/>
              </a:lnSpc>
            </a:pPr>
            <a:r>
              <a:rPr lang="en-US" sz="2000" b="1" dirty="0">
                <a:solidFill>
                  <a:srgbClr val="2B4150"/>
                </a:solidFill>
                <a:latin typeface="Source Sans 3 Bold"/>
                <a:ea typeface="Source Sans 3 Bold"/>
                <a:cs typeface="Source Sans 3 Bold"/>
                <a:sym typeface="Source Sans 3 Bold"/>
              </a:rPr>
              <a:t>ARCHITECTURE</a:t>
            </a:r>
          </a:p>
        </p:txBody>
      </p:sp>
      <p:sp>
        <p:nvSpPr>
          <p:cNvPr id="10" name="TextBox 10"/>
          <p:cNvSpPr txBox="1"/>
          <p:nvPr/>
        </p:nvSpPr>
        <p:spPr>
          <a:xfrm>
            <a:off x="625526" y="820493"/>
            <a:ext cx="8594674" cy="568081"/>
          </a:xfrm>
          <a:prstGeom prst="rect">
            <a:avLst/>
          </a:prstGeom>
        </p:spPr>
        <p:txBody>
          <a:bodyPr wrap="square" lIns="0" tIns="0" rIns="0" bIns="0" rtlCol="0" anchor="t">
            <a:spAutoFit/>
          </a:bodyPr>
          <a:lstStyle/>
          <a:p>
            <a:pPr algn="l">
              <a:lnSpc>
                <a:spcPts val="4375"/>
              </a:lnSpc>
            </a:pPr>
            <a:r>
              <a:rPr lang="en-US" sz="3500" b="1" dirty="0">
                <a:solidFill>
                  <a:srgbClr val="124E73"/>
                </a:solidFill>
                <a:latin typeface="Museo Moderno Bold"/>
                <a:ea typeface="Museo Moderno Bold"/>
                <a:cs typeface="Museo Moderno Bold"/>
                <a:sym typeface="Museo Moderno Bold"/>
              </a:rPr>
              <a:t>Technology Stack Structure</a:t>
            </a:r>
          </a:p>
        </p:txBody>
      </p:sp>
      <p:grpSp>
        <p:nvGrpSpPr>
          <p:cNvPr id="11" name="Group 11"/>
          <p:cNvGrpSpPr/>
          <p:nvPr/>
        </p:nvGrpSpPr>
        <p:grpSpPr>
          <a:xfrm>
            <a:off x="625526" y="1714795"/>
            <a:ext cx="17036948" cy="8000705"/>
            <a:chOff x="0" y="0"/>
            <a:chExt cx="22715931" cy="10667606"/>
          </a:xfrm>
        </p:grpSpPr>
        <p:sp>
          <p:nvSpPr>
            <p:cNvPr id="12" name="Freeform 12" descr="preencoded.png"/>
            <p:cNvSpPr/>
            <p:nvPr/>
          </p:nvSpPr>
          <p:spPr>
            <a:xfrm>
              <a:off x="0" y="0"/>
              <a:ext cx="22715982" cy="10667619"/>
            </a:xfrm>
            <a:custGeom>
              <a:avLst/>
              <a:gdLst/>
              <a:ahLst/>
              <a:cxnLst/>
              <a:rect l="l" t="t" r="r" b="b"/>
              <a:pathLst>
                <a:path w="22715982" h="10667619">
                  <a:moveTo>
                    <a:pt x="0" y="0"/>
                  </a:moveTo>
                  <a:lnTo>
                    <a:pt x="22715982" y="0"/>
                  </a:lnTo>
                  <a:lnTo>
                    <a:pt x="22715982" y="10667619"/>
                  </a:lnTo>
                  <a:lnTo>
                    <a:pt x="0" y="10667619"/>
                  </a:lnTo>
                  <a:lnTo>
                    <a:pt x="0" y="0"/>
                  </a:lnTo>
                  <a:close/>
                </a:path>
              </a:pathLst>
            </a:custGeom>
            <a:blipFill>
              <a:blip r:embed="rId3"/>
              <a:stretch>
                <a:fillRect l="-7" r="-7"/>
              </a:stretch>
            </a:blipFill>
          </p:spPr>
        </p:sp>
      </p:grpSp>
      <p:sp>
        <p:nvSpPr>
          <p:cNvPr id="13" name="TextBox 13"/>
          <p:cNvSpPr txBox="1"/>
          <p:nvPr/>
        </p:nvSpPr>
        <p:spPr>
          <a:xfrm>
            <a:off x="1875358" y="7572375"/>
            <a:ext cx="3738191" cy="476802"/>
          </a:xfrm>
          <a:prstGeom prst="rect">
            <a:avLst/>
          </a:prstGeom>
        </p:spPr>
        <p:txBody>
          <a:bodyPr lIns="0" tIns="0" rIns="0" bIns="0" rtlCol="0" anchor="t">
            <a:spAutoFit/>
          </a:bodyPr>
          <a:lstStyle/>
          <a:p>
            <a:pPr algn="r">
              <a:lnSpc>
                <a:spcPts val="3625"/>
              </a:lnSpc>
            </a:pPr>
            <a:r>
              <a:rPr lang="en-US" sz="2937" b="1">
                <a:solidFill>
                  <a:srgbClr val="124E73"/>
                </a:solidFill>
                <a:latin typeface="Museo Moderno Bold"/>
                <a:ea typeface="Museo Moderno Bold"/>
                <a:cs typeface="Museo Moderno Bold"/>
                <a:sym typeface="Museo Moderno Bold"/>
              </a:rPr>
              <a:t>User Layer</a:t>
            </a:r>
          </a:p>
        </p:txBody>
      </p:sp>
      <p:sp>
        <p:nvSpPr>
          <p:cNvPr id="14" name="TextBox 14"/>
          <p:cNvSpPr txBox="1"/>
          <p:nvPr/>
        </p:nvSpPr>
        <p:spPr>
          <a:xfrm>
            <a:off x="1028033" y="8220189"/>
            <a:ext cx="4585516" cy="266405"/>
          </a:xfrm>
          <a:prstGeom prst="rect">
            <a:avLst/>
          </a:prstGeom>
        </p:spPr>
        <p:txBody>
          <a:bodyPr lIns="0" tIns="0" rIns="0" bIns="0" rtlCol="0" anchor="t">
            <a:spAutoFit/>
          </a:bodyPr>
          <a:lstStyle/>
          <a:p>
            <a:pPr algn="r">
              <a:lnSpc>
                <a:spcPts val="2375"/>
              </a:lnSpc>
            </a:pPr>
            <a:r>
              <a:rPr lang="en-US" sz="2312">
                <a:solidFill>
                  <a:srgbClr val="2B4150"/>
                </a:solidFill>
                <a:latin typeface="Source Sans 3"/>
                <a:ea typeface="Source Sans 3"/>
                <a:cs typeface="Source Sans 3"/>
                <a:sym typeface="Source Sans 3"/>
              </a:rPr>
              <a:t>Web Browser interface</a:t>
            </a:r>
          </a:p>
        </p:txBody>
      </p:sp>
      <p:sp>
        <p:nvSpPr>
          <p:cNvPr id="15" name="TextBox 15"/>
          <p:cNvSpPr txBox="1"/>
          <p:nvPr/>
        </p:nvSpPr>
        <p:spPr>
          <a:xfrm>
            <a:off x="12790618" y="6268164"/>
            <a:ext cx="3738191" cy="476802"/>
          </a:xfrm>
          <a:prstGeom prst="rect">
            <a:avLst/>
          </a:prstGeom>
        </p:spPr>
        <p:txBody>
          <a:bodyPr lIns="0" tIns="0" rIns="0" bIns="0" rtlCol="0" anchor="t">
            <a:spAutoFit/>
          </a:bodyPr>
          <a:lstStyle/>
          <a:p>
            <a:pPr algn="l">
              <a:lnSpc>
                <a:spcPts val="3625"/>
              </a:lnSpc>
            </a:pPr>
            <a:r>
              <a:rPr lang="en-US" sz="2937" b="1">
                <a:solidFill>
                  <a:srgbClr val="124E73"/>
                </a:solidFill>
                <a:latin typeface="Museo Moderno Bold"/>
                <a:ea typeface="Museo Moderno Bold"/>
                <a:cs typeface="Museo Moderno Bold"/>
                <a:sym typeface="Museo Moderno Bold"/>
              </a:rPr>
              <a:t>Frontend Layer</a:t>
            </a:r>
          </a:p>
        </p:txBody>
      </p:sp>
      <p:sp>
        <p:nvSpPr>
          <p:cNvPr id="16" name="TextBox 16"/>
          <p:cNvSpPr txBox="1"/>
          <p:nvPr/>
        </p:nvSpPr>
        <p:spPr>
          <a:xfrm>
            <a:off x="12790618" y="6915969"/>
            <a:ext cx="4469216" cy="266405"/>
          </a:xfrm>
          <a:prstGeom prst="rect">
            <a:avLst/>
          </a:prstGeom>
        </p:spPr>
        <p:txBody>
          <a:bodyPr lIns="0" tIns="0" rIns="0" bIns="0" rtlCol="0" anchor="t">
            <a:spAutoFit/>
          </a:bodyPr>
          <a:lstStyle/>
          <a:p>
            <a:pPr algn="l">
              <a:lnSpc>
                <a:spcPts val="2375"/>
              </a:lnSpc>
            </a:pPr>
            <a:r>
              <a:rPr lang="en-US" sz="2312">
                <a:solidFill>
                  <a:srgbClr val="2B4150"/>
                </a:solidFill>
                <a:latin typeface="Source Sans 3"/>
                <a:ea typeface="Source Sans 3"/>
                <a:cs typeface="Source Sans 3"/>
                <a:sym typeface="Source Sans 3"/>
              </a:rPr>
              <a:t>HTML/CSS/JavaScript UI</a:t>
            </a:r>
          </a:p>
        </p:txBody>
      </p:sp>
      <p:sp>
        <p:nvSpPr>
          <p:cNvPr id="17" name="TextBox 17"/>
          <p:cNvSpPr txBox="1"/>
          <p:nvPr/>
        </p:nvSpPr>
        <p:spPr>
          <a:xfrm>
            <a:off x="1875101" y="5080244"/>
            <a:ext cx="3738191" cy="476802"/>
          </a:xfrm>
          <a:prstGeom prst="rect">
            <a:avLst/>
          </a:prstGeom>
        </p:spPr>
        <p:txBody>
          <a:bodyPr lIns="0" tIns="0" rIns="0" bIns="0" rtlCol="0" anchor="t">
            <a:spAutoFit/>
          </a:bodyPr>
          <a:lstStyle/>
          <a:p>
            <a:pPr algn="r">
              <a:lnSpc>
                <a:spcPts val="3625"/>
              </a:lnSpc>
            </a:pPr>
            <a:r>
              <a:rPr lang="en-US" sz="2937" b="1">
                <a:solidFill>
                  <a:srgbClr val="124E73"/>
                </a:solidFill>
                <a:latin typeface="Museo Moderno Bold"/>
                <a:ea typeface="Museo Moderno Bold"/>
                <a:cs typeface="Museo Moderno Bold"/>
                <a:sym typeface="Museo Moderno Bold"/>
              </a:rPr>
              <a:t>Visualization Layer</a:t>
            </a:r>
          </a:p>
        </p:txBody>
      </p:sp>
      <p:sp>
        <p:nvSpPr>
          <p:cNvPr id="18" name="TextBox 18"/>
          <p:cNvSpPr txBox="1"/>
          <p:nvPr/>
        </p:nvSpPr>
        <p:spPr>
          <a:xfrm>
            <a:off x="1027776" y="5728059"/>
            <a:ext cx="4585516" cy="266405"/>
          </a:xfrm>
          <a:prstGeom prst="rect">
            <a:avLst/>
          </a:prstGeom>
        </p:spPr>
        <p:txBody>
          <a:bodyPr lIns="0" tIns="0" rIns="0" bIns="0" rtlCol="0" anchor="t">
            <a:spAutoFit/>
          </a:bodyPr>
          <a:lstStyle/>
          <a:p>
            <a:pPr algn="r">
              <a:lnSpc>
                <a:spcPts val="2375"/>
              </a:lnSpc>
            </a:pPr>
            <a:r>
              <a:rPr lang="en-US" sz="2312">
                <a:solidFill>
                  <a:srgbClr val="2B4150"/>
                </a:solidFill>
                <a:latin typeface="Source Sans 3"/>
                <a:ea typeface="Source Sans 3"/>
                <a:cs typeface="Source Sans 3"/>
                <a:sym typeface="Source Sans 3"/>
              </a:rPr>
              <a:t>Chart.js graphs and charts</a:t>
            </a:r>
          </a:p>
        </p:txBody>
      </p:sp>
      <p:sp>
        <p:nvSpPr>
          <p:cNvPr id="19" name="TextBox 19"/>
          <p:cNvSpPr txBox="1"/>
          <p:nvPr/>
        </p:nvSpPr>
        <p:spPr>
          <a:xfrm>
            <a:off x="12790618" y="3676355"/>
            <a:ext cx="3738191" cy="476802"/>
          </a:xfrm>
          <a:prstGeom prst="rect">
            <a:avLst/>
          </a:prstGeom>
        </p:spPr>
        <p:txBody>
          <a:bodyPr lIns="0" tIns="0" rIns="0" bIns="0" rtlCol="0" anchor="t">
            <a:spAutoFit/>
          </a:bodyPr>
          <a:lstStyle/>
          <a:p>
            <a:pPr algn="l">
              <a:lnSpc>
                <a:spcPts val="3625"/>
              </a:lnSpc>
            </a:pPr>
            <a:r>
              <a:rPr lang="en-US" sz="2937" b="1">
                <a:solidFill>
                  <a:srgbClr val="124E73"/>
                </a:solidFill>
                <a:latin typeface="Museo Moderno Bold"/>
                <a:ea typeface="Museo Moderno Bold"/>
                <a:cs typeface="Museo Moderno Bold"/>
                <a:sym typeface="Museo Moderno Bold"/>
              </a:rPr>
              <a:t>Backend Layer</a:t>
            </a:r>
          </a:p>
        </p:txBody>
      </p:sp>
      <p:sp>
        <p:nvSpPr>
          <p:cNvPr id="20" name="TextBox 20"/>
          <p:cNvSpPr txBox="1"/>
          <p:nvPr/>
        </p:nvSpPr>
        <p:spPr>
          <a:xfrm>
            <a:off x="12790618" y="4324160"/>
            <a:ext cx="4469216" cy="266405"/>
          </a:xfrm>
          <a:prstGeom prst="rect">
            <a:avLst/>
          </a:prstGeom>
        </p:spPr>
        <p:txBody>
          <a:bodyPr lIns="0" tIns="0" rIns="0" bIns="0" rtlCol="0" anchor="t">
            <a:spAutoFit/>
          </a:bodyPr>
          <a:lstStyle/>
          <a:p>
            <a:pPr algn="l">
              <a:lnSpc>
                <a:spcPts val="2375"/>
              </a:lnSpc>
            </a:pPr>
            <a:r>
              <a:rPr lang="en-US" sz="2312">
                <a:solidFill>
                  <a:srgbClr val="2B4150"/>
                </a:solidFill>
                <a:latin typeface="Source Sans 3"/>
                <a:ea typeface="Source Sans 3"/>
                <a:cs typeface="Source Sans 3"/>
                <a:sym typeface="Source Sans 3"/>
              </a:rPr>
              <a:t>Python Flask API</a:t>
            </a:r>
          </a:p>
        </p:txBody>
      </p:sp>
      <p:sp>
        <p:nvSpPr>
          <p:cNvPr id="21" name="TextBox 21"/>
          <p:cNvSpPr txBox="1"/>
          <p:nvPr/>
        </p:nvSpPr>
        <p:spPr>
          <a:xfrm>
            <a:off x="1875358" y="2588123"/>
            <a:ext cx="3738191" cy="476802"/>
          </a:xfrm>
          <a:prstGeom prst="rect">
            <a:avLst/>
          </a:prstGeom>
        </p:spPr>
        <p:txBody>
          <a:bodyPr lIns="0" tIns="0" rIns="0" bIns="0" rtlCol="0" anchor="t">
            <a:spAutoFit/>
          </a:bodyPr>
          <a:lstStyle/>
          <a:p>
            <a:pPr algn="r">
              <a:lnSpc>
                <a:spcPts val="3625"/>
              </a:lnSpc>
            </a:pPr>
            <a:r>
              <a:rPr lang="en-US" sz="2937" b="1">
                <a:solidFill>
                  <a:srgbClr val="124E73"/>
                </a:solidFill>
                <a:latin typeface="Museo Moderno Bold"/>
                <a:ea typeface="Museo Moderno Bold"/>
                <a:cs typeface="Museo Moderno Bold"/>
                <a:sym typeface="Museo Moderno Bold"/>
              </a:rPr>
              <a:t>Data Layer</a:t>
            </a:r>
          </a:p>
        </p:txBody>
      </p:sp>
      <p:sp>
        <p:nvSpPr>
          <p:cNvPr id="22" name="TextBox 22"/>
          <p:cNvSpPr txBox="1"/>
          <p:nvPr/>
        </p:nvSpPr>
        <p:spPr>
          <a:xfrm>
            <a:off x="1028033" y="3235938"/>
            <a:ext cx="4585516" cy="266405"/>
          </a:xfrm>
          <a:prstGeom prst="rect">
            <a:avLst/>
          </a:prstGeom>
        </p:spPr>
        <p:txBody>
          <a:bodyPr lIns="0" tIns="0" rIns="0" bIns="0" rtlCol="0" anchor="t">
            <a:spAutoFit/>
          </a:bodyPr>
          <a:lstStyle/>
          <a:p>
            <a:pPr algn="r">
              <a:lnSpc>
                <a:spcPts val="2375"/>
              </a:lnSpc>
            </a:pPr>
            <a:r>
              <a:rPr lang="en-US" sz="2312">
                <a:solidFill>
                  <a:srgbClr val="2B4150"/>
                </a:solidFill>
                <a:latin typeface="Source Sans 3"/>
                <a:ea typeface="Source Sans 3"/>
                <a:cs typeface="Source Sans 3"/>
                <a:sym typeface="Source Sans 3"/>
              </a:rPr>
              <a:t>JSON storage format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976608" y="676123"/>
            <a:ext cx="2099967" cy="478927"/>
            <a:chOff x="0" y="0"/>
            <a:chExt cx="2799956" cy="638569"/>
          </a:xfrm>
        </p:grpSpPr>
        <p:sp>
          <p:nvSpPr>
            <p:cNvPr id="7" name="Freeform 7"/>
            <p:cNvSpPr/>
            <p:nvPr/>
          </p:nvSpPr>
          <p:spPr>
            <a:xfrm>
              <a:off x="0" y="0"/>
              <a:ext cx="2799969" cy="638556"/>
            </a:xfrm>
            <a:custGeom>
              <a:avLst/>
              <a:gdLst/>
              <a:ahLst/>
              <a:cxnLst/>
              <a:rect l="l" t="t" r="r" b="b"/>
              <a:pathLst>
                <a:path w="2799969" h="638556">
                  <a:moveTo>
                    <a:pt x="0" y="48006"/>
                  </a:moveTo>
                  <a:cubicBezTo>
                    <a:pt x="0" y="21336"/>
                    <a:pt x="21844" y="0"/>
                    <a:pt x="48641" y="0"/>
                  </a:cubicBezTo>
                  <a:lnTo>
                    <a:pt x="2751328" y="0"/>
                  </a:lnTo>
                  <a:lnTo>
                    <a:pt x="2751328" y="6350"/>
                  </a:lnTo>
                  <a:lnTo>
                    <a:pt x="2751328" y="0"/>
                  </a:lnTo>
                  <a:cubicBezTo>
                    <a:pt x="2778125" y="0"/>
                    <a:pt x="2799969" y="21336"/>
                    <a:pt x="2799969" y="48006"/>
                  </a:cubicBezTo>
                  <a:lnTo>
                    <a:pt x="2793619" y="48006"/>
                  </a:lnTo>
                  <a:lnTo>
                    <a:pt x="2799969" y="48006"/>
                  </a:lnTo>
                  <a:lnTo>
                    <a:pt x="2799969" y="590550"/>
                  </a:lnTo>
                  <a:lnTo>
                    <a:pt x="2793619" y="590550"/>
                  </a:lnTo>
                  <a:lnTo>
                    <a:pt x="2799969" y="590550"/>
                  </a:lnTo>
                  <a:cubicBezTo>
                    <a:pt x="2799969" y="617093"/>
                    <a:pt x="2778125" y="638556"/>
                    <a:pt x="2751328" y="638556"/>
                  </a:cubicBezTo>
                  <a:lnTo>
                    <a:pt x="2751328" y="632206"/>
                  </a:lnTo>
                  <a:lnTo>
                    <a:pt x="2751328" y="638556"/>
                  </a:lnTo>
                  <a:lnTo>
                    <a:pt x="48641" y="638556"/>
                  </a:lnTo>
                  <a:lnTo>
                    <a:pt x="48641" y="632206"/>
                  </a:lnTo>
                  <a:lnTo>
                    <a:pt x="48641" y="638556"/>
                  </a:lnTo>
                  <a:cubicBezTo>
                    <a:pt x="21844" y="638556"/>
                    <a:pt x="0" y="617220"/>
                    <a:pt x="0" y="590550"/>
                  </a:cubicBezTo>
                  <a:lnTo>
                    <a:pt x="0" y="48006"/>
                  </a:lnTo>
                  <a:lnTo>
                    <a:pt x="6350" y="48006"/>
                  </a:lnTo>
                  <a:lnTo>
                    <a:pt x="0" y="48006"/>
                  </a:lnTo>
                  <a:moveTo>
                    <a:pt x="12700" y="48006"/>
                  </a:moveTo>
                  <a:lnTo>
                    <a:pt x="12700" y="590550"/>
                  </a:lnTo>
                  <a:lnTo>
                    <a:pt x="6350" y="590550"/>
                  </a:lnTo>
                  <a:lnTo>
                    <a:pt x="12700" y="590550"/>
                  </a:lnTo>
                  <a:cubicBezTo>
                    <a:pt x="12700" y="609981"/>
                    <a:pt x="28702" y="625856"/>
                    <a:pt x="48641" y="625856"/>
                  </a:cubicBezTo>
                  <a:lnTo>
                    <a:pt x="2751328" y="625856"/>
                  </a:lnTo>
                  <a:cubicBezTo>
                    <a:pt x="2771267" y="625856"/>
                    <a:pt x="2787269" y="609981"/>
                    <a:pt x="2787269" y="590550"/>
                  </a:cubicBezTo>
                  <a:lnTo>
                    <a:pt x="2787269" y="48006"/>
                  </a:lnTo>
                  <a:cubicBezTo>
                    <a:pt x="2787269" y="28575"/>
                    <a:pt x="2771267" y="12700"/>
                    <a:pt x="2751328" y="12700"/>
                  </a:cubicBezTo>
                  <a:lnTo>
                    <a:pt x="48641" y="12700"/>
                  </a:lnTo>
                  <a:lnTo>
                    <a:pt x="48641" y="6350"/>
                  </a:lnTo>
                  <a:lnTo>
                    <a:pt x="48641" y="12700"/>
                  </a:lnTo>
                  <a:cubicBezTo>
                    <a:pt x="28702" y="12700"/>
                    <a:pt x="12700" y="28575"/>
                    <a:pt x="12700" y="48006"/>
                  </a:cubicBezTo>
                  <a:close/>
                </a:path>
              </a:pathLst>
            </a:custGeom>
            <a:solidFill>
              <a:srgbClr val="325F7B"/>
            </a:solidFill>
          </p:spPr>
        </p:sp>
      </p:grpSp>
      <p:sp>
        <p:nvSpPr>
          <p:cNvPr id="8" name="Freeform 8" descr="preencoded.png"/>
          <p:cNvSpPr/>
          <p:nvPr/>
        </p:nvSpPr>
        <p:spPr>
          <a:xfrm>
            <a:off x="1116959" y="771077"/>
            <a:ext cx="273701" cy="273701"/>
          </a:xfrm>
          <a:custGeom>
            <a:avLst/>
            <a:gdLst/>
            <a:ahLst/>
            <a:cxnLst/>
            <a:rect l="l" t="t" r="r" b="b"/>
            <a:pathLst>
              <a:path w="273701" h="273701">
                <a:moveTo>
                  <a:pt x="0" y="0"/>
                </a:moveTo>
                <a:lnTo>
                  <a:pt x="273701" y="0"/>
                </a:lnTo>
                <a:lnTo>
                  <a:pt x="273701" y="273701"/>
                </a:lnTo>
                <a:lnTo>
                  <a:pt x="0" y="273701"/>
                </a:lnTo>
                <a:lnTo>
                  <a:pt x="0" y="0"/>
                </a:lnTo>
                <a:close/>
              </a:path>
            </a:pathLst>
          </a:custGeom>
          <a:blipFill>
            <a:blip r:embed="rId3">
              <a:extLst>
                <a:ext uri="{96DAC541-7B7A-43D3-8B79-37D633B846F1}">
                  <asvg:svgBlip xmlns:asvg="http://schemas.microsoft.com/office/drawing/2016/SVG/main" r:embed="rId4"/>
                </a:ext>
              </a:extLst>
            </a:blip>
            <a:stretch>
              <a:fillRect l="-5171" r="-5171"/>
            </a:stretch>
          </a:blipFill>
        </p:spPr>
      </p:sp>
      <p:sp>
        <p:nvSpPr>
          <p:cNvPr id="9" name="TextBox 9"/>
          <p:cNvSpPr txBox="1"/>
          <p:nvPr/>
        </p:nvSpPr>
        <p:spPr>
          <a:xfrm>
            <a:off x="1526238" y="839524"/>
            <a:ext cx="1550347" cy="250068"/>
          </a:xfrm>
          <a:prstGeom prst="rect">
            <a:avLst/>
          </a:prstGeom>
        </p:spPr>
        <p:txBody>
          <a:bodyPr wrap="square" lIns="0" tIns="0" rIns="0" bIns="0" rtlCol="0" anchor="t">
            <a:spAutoFit/>
          </a:bodyPr>
          <a:lstStyle/>
          <a:p>
            <a:pPr algn="l">
              <a:lnSpc>
                <a:spcPts val="1812"/>
              </a:lnSpc>
            </a:pPr>
            <a:r>
              <a:rPr lang="en-US" sz="2000" b="1" dirty="0">
                <a:solidFill>
                  <a:srgbClr val="325F7B"/>
                </a:solidFill>
                <a:latin typeface="Source Sans 3 Bold"/>
                <a:ea typeface="Source Sans 3 Bold"/>
                <a:cs typeface="Source Sans 3 Bold"/>
                <a:sym typeface="Source Sans 3 Bold"/>
              </a:rPr>
              <a:t>DASHBOARD</a:t>
            </a:r>
          </a:p>
        </p:txBody>
      </p:sp>
      <p:sp>
        <p:nvSpPr>
          <p:cNvPr id="10" name="TextBox 10"/>
          <p:cNvSpPr txBox="1"/>
          <p:nvPr/>
        </p:nvSpPr>
        <p:spPr>
          <a:xfrm>
            <a:off x="981369" y="1515370"/>
            <a:ext cx="15314267" cy="704488"/>
          </a:xfrm>
          <a:prstGeom prst="rect">
            <a:avLst/>
          </a:prstGeom>
        </p:spPr>
        <p:txBody>
          <a:bodyPr wrap="square" lIns="0" tIns="0" rIns="0" bIns="0" rtlCol="0" anchor="t">
            <a:spAutoFit/>
          </a:bodyPr>
          <a:lstStyle/>
          <a:p>
            <a:pPr algn="l">
              <a:lnSpc>
                <a:spcPts val="5124"/>
              </a:lnSpc>
            </a:pPr>
            <a:r>
              <a:rPr lang="en-US" sz="5562" b="1" dirty="0">
                <a:solidFill>
                  <a:srgbClr val="124E73"/>
                </a:solidFill>
                <a:latin typeface="Museo Moderno Bold"/>
                <a:ea typeface="Museo Moderno Bold"/>
                <a:cs typeface="Museo Moderno Bold"/>
                <a:sym typeface="Museo Moderno Bold"/>
              </a:rPr>
              <a:t>AQI Dashboard &amp; Data Representation</a:t>
            </a:r>
          </a:p>
        </p:txBody>
      </p:sp>
      <p:sp>
        <p:nvSpPr>
          <p:cNvPr id="11" name="TextBox 11"/>
          <p:cNvSpPr txBox="1"/>
          <p:nvPr/>
        </p:nvSpPr>
        <p:spPr>
          <a:xfrm>
            <a:off x="1009945" y="3515621"/>
            <a:ext cx="4498477" cy="413442"/>
          </a:xfrm>
          <a:prstGeom prst="rect">
            <a:avLst/>
          </a:prstGeom>
        </p:spPr>
        <p:txBody>
          <a:bodyPr lIns="0" tIns="0" rIns="0" bIns="0" rtlCol="0" anchor="t">
            <a:spAutoFit/>
          </a:bodyPr>
          <a:lstStyle/>
          <a:p>
            <a:pPr algn="l">
              <a:lnSpc>
                <a:spcPts val="3062"/>
              </a:lnSpc>
            </a:pPr>
            <a:r>
              <a:rPr lang="en-US" sz="2437" b="1" dirty="0">
                <a:solidFill>
                  <a:srgbClr val="124E73"/>
                </a:solidFill>
                <a:latin typeface="Museo Moderno Bold"/>
                <a:ea typeface="Museo Moderno Bold"/>
                <a:cs typeface="Museo Moderno Bold"/>
                <a:sym typeface="Museo Moderno Bold"/>
              </a:rPr>
              <a:t>Intelligent Data Visualization</a:t>
            </a:r>
          </a:p>
        </p:txBody>
      </p:sp>
      <p:sp>
        <p:nvSpPr>
          <p:cNvPr id="12" name="TextBox 12"/>
          <p:cNvSpPr txBox="1"/>
          <p:nvPr/>
        </p:nvSpPr>
        <p:spPr>
          <a:xfrm>
            <a:off x="981370" y="4501601"/>
            <a:ext cx="5380434" cy="1183016"/>
          </a:xfrm>
          <a:prstGeom prst="rect">
            <a:avLst/>
          </a:prstGeom>
        </p:spPr>
        <p:txBody>
          <a:bodyPr lIns="0" tIns="0" rIns="0" bIns="0" rtlCol="0" anchor="t">
            <a:spAutoFit/>
          </a:bodyPr>
          <a:lstStyle/>
          <a:p>
            <a:pPr algn="l">
              <a:lnSpc>
                <a:spcPts val="2250"/>
              </a:lnSpc>
            </a:pPr>
            <a:r>
              <a:rPr lang="en-US" sz="2000" dirty="0">
                <a:solidFill>
                  <a:srgbClr val="2B4150"/>
                </a:solidFill>
                <a:latin typeface="Source Sans 3"/>
                <a:ea typeface="Source Sans 3"/>
                <a:cs typeface="Source Sans 3"/>
                <a:sym typeface="Source Sans 3"/>
              </a:rPr>
              <a:t>The dashboard provides comprehensive air quality insights through multiple visualization layers, making complex environmental data instantly understandable.</a:t>
            </a:r>
          </a:p>
        </p:txBody>
      </p:sp>
      <p:grpSp>
        <p:nvGrpSpPr>
          <p:cNvPr id="13" name="Group 13"/>
          <p:cNvGrpSpPr/>
          <p:nvPr/>
        </p:nvGrpSpPr>
        <p:grpSpPr>
          <a:xfrm>
            <a:off x="7343174" y="2487449"/>
            <a:ext cx="7441406" cy="4083396"/>
            <a:chOff x="0" y="0"/>
            <a:chExt cx="10431666" cy="5841606"/>
          </a:xfrm>
        </p:grpSpPr>
        <p:sp>
          <p:nvSpPr>
            <p:cNvPr id="14" name="Freeform 14" descr="preencoded.png"/>
            <p:cNvSpPr/>
            <p:nvPr/>
          </p:nvSpPr>
          <p:spPr>
            <a:xfrm>
              <a:off x="0" y="0"/>
              <a:ext cx="10431653" cy="5841619"/>
            </a:xfrm>
            <a:custGeom>
              <a:avLst/>
              <a:gdLst/>
              <a:ahLst/>
              <a:cxnLst/>
              <a:rect l="l" t="t" r="r" b="b"/>
              <a:pathLst>
                <a:path w="10431653" h="5841619">
                  <a:moveTo>
                    <a:pt x="0" y="0"/>
                  </a:moveTo>
                  <a:lnTo>
                    <a:pt x="10431653" y="0"/>
                  </a:lnTo>
                  <a:lnTo>
                    <a:pt x="10431653" y="5841619"/>
                  </a:lnTo>
                  <a:lnTo>
                    <a:pt x="0" y="5841619"/>
                  </a:lnTo>
                  <a:lnTo>
                    <a:pt x="0" y="0"/>
                  </a:lnTo>
                  <a:close/>
                </a:path>
              </a:pathLst>
            </a:custGeom>
            <a:blipFill>
              <a:blip r:embed="rId5"/>
              <a:stretch>
                <a:fillRect t="-27" b="-26"/>
              </a:stretch>
            </a:blipFill>
          </p:spPr>
        </p:sp>
      </p:grpSp>
      <p:sp>
        <p:nvSpPr>
          <p:cNvPr id="15" name="TextBox 15"/>
          <p:cNvSpPr txBox="1"/>
          <p:nvPr/>
        </p:nvSpPr>
        <p:spPr>
          <a:xfrm>
            <a:off x="6884194" y="6807403"/>
            <a:ext cx="10431809" cy="321469"/>
          </a:xfrm>
          <a:prstGeom prst="rect">
            <a:avLst/>
          </a:prstGeom>
        </p:spPr>
        <p:txBody>
          <a:bodyPr lIns="0" tIns="0" rIns="0" bIns="0" rtlCol="0" anchor="t">
            <a:spAutoFit/>
          </a:bodyPr>
          <a:lstStyle/>
          <a:p>
            <a:pPr algn="l">
              <a:lnSpc>
                <a:spcPts val="2250"/>
              </a:lnSpc>
            </a:pPr>
            <a:r>
              <a:rPr lang="en-US" sz="1625">
                <a:solidFill>
                  <a:srgbClr val="2B4150"/>
                </a:solidFill>
                <a:latin typeface="Source Sans 3"/>
                <a:ea typeface="Source Sans 3"/>
                <a:cs typeface="Source Sans 3"/>
                <a:sym typeface="Source Sans 3"/>
              </a:rPr>
              <a:t>Sample AQI category distribution showing relative health impact severity across standard classification ranges.</a:t>
            </a:r>
          </a:p>
        </p:txBody>
      </p:sp>
      <p:grpSp>
        <p:nvGrpSpPr>
          <p:cNvPr id="16" name="Group 16"/>
          <p:cNvGrpSpPr/>
          <p:nvPr/>
        </p:nvGrpSpPr>
        <p:grpSpPr>
          <a:xfrm>
            <a:off x="967083" y="7430395"/>
            <a:ext cx="3992909" cy="2099815"/>
            <a:chOff x="0" y="0"/>
            <a:chExt cx="5323878" cy="2799753"/>
          </a:xfrm>
        </p:grpSpPr>
        <p:sp>
          <p:nvSpPr>
            <p:cNvPr id="17" name="Freeform 17"/>
            <p:cNvSpPr/>
            <p:nvPr/>
          </p:nvSpPr>
          <p:spPr>
            <a:xfrm>
              <a:off x="19050" y="19050"/>
              <a:ext cx="5285740" cy="2761615"/>
            </a:xfrm>
            <a:custGeom>
              <a:avLst/>
              <a:gdLst/>
              <a:ahLst/>
              <a:cxnLst/>
              <a:rect l="l" t="t" r="r" b="b"/>
              <a:pathLst>
                <a:path w="5285740" h="2761615">
                  <a:moveTo>
                    <a:pt x="0" y="182880"/>
                  </a:moveTo>
                  <a:cubicBezTo>
                    <a:pt x="0" y="81915"/>
                    <a:pt x="82423" y="0"/>
                    <a:pt x="184023" y="0"/>
                  </a:cubicBezTo>
                  <a:lnTo>
                    <a:pt x="5101717" y="0"/>
                  </a:lnTo>
                  <a:cubicBezTo>
                    <a:pt x="5203317" y="0"/>
                    <a:pt x="5285740" y="81915"/>
                    <a:pt x="5285740" y="182880"/>
                  </a:cubicBezTo>
                  <a:lnTo>
                    <a:pt x="5285740" y="2578735"/>
                  </a:lnTo>
                  <a:cubicBezTo>
                    <a:pt x="5285740" y="2679700"/>
                    <a:pt x="5203317" y="2761615"/>
                    <a:pt x="5101717" y="2761615"/>
                  </a:cubicBezTo>
                  <a:lnTo>
                    <a:pt x="184023" y="2761615"/>
                  </a:lnTo>
                  <a:cubicBezTo>
                    <a:pt x="82423" y="2761615"/>
                    <a:pt x="0" y="2679700"/>
                    <a:pt x="0" y="2578735"/>
                  </a:cubicBezTo>
                  <a:close/>
                </a:path>
              </a:pathLst>
            </a:custGeom>
            <a:solidFill>
              <a:srgbClr val="FFFCF5"/>
            </a:solidFill>
          </p:spPr>
        </p:sp>
        <p:sp>
          <p:nvSpPr>
            <p:cNvPr id="18" name="Freeform 18"/>
            <p:cNvSpPr/>
            <p:nvPr/>
          </p:nvSpPr>
          <p:spPr>
            <a:xfrm>
              <a:off x="0" y="0"/>
              <a:ext cx="5323840" cy="2799715"/>
            </a:xfrm>
            <a:custGeom>
              <a:avLst/>
              <a:gdLst/>
              <a:ahLst/>
              <a:cxnLst/>
              <a:rect l="l" t="t" r="r" b="b"/>
              <a:pathLst>
                <a:path w="5323840" h="2799715">
                  <a:moveTo>
                    <a:pt x="0" y="201930"/>
                  </a:moveTo>
                  <a:cubicBezTo>
                    <a:pt x="0" y="90297"/>
                    <a:pt x="91059" y="0"/>
                    <a:pt x="203073" y="0"/>
                  </a:cubicBezTo>
                  <a:lnTo>
                    <a:pt x="5120767" y="0"/>
                  </a:lnTo>
                  <a:lnTo>
                    <a:pt x="5120767" y="19050"/>
                  </a:lnTo>
                  <a:lnTo>
                    <a:pt x="5120767" y="0"/>
                  </a:lnTo>
                  <a:cubicBezTo>
                    <a:pt x="5232781" y="0"/>
                    <a:pt x="5323840" y="90297"/>
                    <a:pt x="5323840" y="201930"/>
                  </a:cubicBezTo>
                  <a:lnTo>
                    <a:pt x="5304790" y="201930"/>
                  </a:lnTo>
                  <a:lnTo>
                    <a:pt x="5323840" y="201930"/>
                  </a:lnTo>
                  <a:lnTo>
                    <a:pt x="5323840" y="2597785"/>
                  </a:lnTo>
                  <a:lnTo>
                    <a:pt x="5304790" y="2597785"/>
                  </a:lnTo>
                  <a:lnTo>
                    <a:pt x="5323840" y="2597785"/>
                  </a:lnTo>
                  <a:cubicBezTo>
                    <a:pt x="5323840" y="2709418"/>
                    <a:pt x="5232781" y="2799715"/>
                    <a:pt x="5120767" y="2799715"/>
                  </a:cubicBezTo>
                  <a:lnTo>
                    <a:pt x="5120767" y="2780665"/>
                  </a:lnTo>
                  <a:lnTo>
                    <a:pt x="5120767" y="2799715"/>
                  </a:lnTo>
                  <a:lnTo>
                    <a:pt x="203073" y="2799715"/>
                  </a:lnTo>
                  <a:lnTo>
                    <a:pt x="203073" y="2780665"/>
                  </a:lnTo>
                  <a:lnTo>
                    <a:pt x="203073" y="2799715"/>
                  </a:lnTo>
                  <a:cubicBezTo>
                    <a:pt x="91059" y="2799715"/>
                    <a:pt x="0" y="2709418"/>
                    <a:pt x="0" y="2597785"/>
                  </a:cubicBezTo>
                  <a:lnTo>
                    <a:pt x="0" y="201930"/>
                  </a:lnTo>
                  <a:lnTo>
                    <a:pt x="19050" y="201930"/>
                  </a:lnTo>
                  <a:lnTo>
                    <a:pt x="0" y="201930"/>
                  </a:lnTo>
                  <a:moveTo>
                    <a:pt x="38100" y="201930"/>
                  </a:moveTo>
                  <a:lnTo>
                    <a:pt x="38100" y="2597785"/>
                  </a:lnTo>
                  <a:lnTo>
                    <a:pt x="19050" y="2597785"/>
                  </a:lnTo>
                  <a:lnTo>
                    <a:pt x="38100" y="2597785"/>
                  </a:lnTo>
                  <a:cubicBezTo>
                    <a:pt x="38100" y="2688209"/>
                    <a:pt x="111887" y="2761615"/>
                    <a:pt x="203073" y="2761615"/>
                  </a:cubicBezTo>
                  <a:lnTo>
                    <a:pt x="5120767" y="2761615"/>
                  </a:lnTo>
                  <a:cubicBezTo>
                    <a:pt x="5212080" y="2761615"/>
                    <a:pt x="5285740" y="2688209"/>
                    <a:pt x="5285740" y="2597785"/>
                  </a:cubicBezTo>
                  <a:lnTo>
                    <a:pt x="5285740" y="201930"/>
                  </a:lnTo>
                  <a:cubicBezTo>
                    <a:pt x="5285740" y="111506"/>
                    <a:pt x="5211953" y="38100"/>
                    <a:pt x="5120767" y="38100"/>
                  </a:cubicBezTo>
                  <a:lnTo>
                    <a:pt x="203073" y="38100"/>
                  </a:lnTo>
                  <a:lnTo>
                    <a:pt x="203073" y="19050"/>
                  </a:lnTo>
                  <a:lnTo>
                    <a:pt x="203073" y="38100"/>
                  </a:lnTo>
                  <a:cubicBezTo>
                    <a:pt x="111887" y="38100"/>
                    <a:pt x="38100" y="111506"/>
                    <a:pt x="38100" y="201930"/>
                  </a:cubicBezTo>
                  <a:close/>
                </a:path>
              </a:pathLst>
            </a:custGeom>
            <a:solidFill>
              <a:srgbClr val="D9D4C9"/>
            </a:solidFill>
          </p:spPr>
        </p:sp>
      </p:grpSp>
      <p:grpSp>
        <p:nvGrpSpPr>
          <p:cNvPr id="19" name="Group 19"/>
          <p:cNvGrpSpPr/>
          <p:nvPr/>
        </p:nvGrpSpPr>
        <p:grpSpPr>
          <a:xfrm>
            <a:off x="952795" y="7444683"/>
            <a:ext cx="114300" cy="2071240"/>
            <a:chOff x="0" y="0"/>
            <a:chExt cx="152400" cy="2761653"/>
          </a:xfrm>
        </p:grpSpPr>
        <p:sp>
          <p:nvSpPr>
            <p:cNvPr id="20" name="Freeform 20"/>
            <p:cNvSpPr/>
            <p:nvPr/>
          </p:nvSpPr>
          <p:spPr>
            <a:xfrm>
              <a:off x="0" y="0"/>
              <a:ext cx="152400" cy="2761615"/>
            </a:xfrm>
            <a:custGeom>
              <a:avLst/>
              <a:gdLst/>
              <a:ahLst/>
              <a:cxnLst/>
              <a:rect l="l" t="t" r="r" b="b"/>
              <a:pathLst>
                <a:path w="152400" h="2761615">
                  <a:moveTo>
                    <a:pt x="0" y="42037"/>
                  </a:moveTo>
                  <a:cubicBezTo>
                    <a:pt x="0" y="18796"/>
                    <a:pt x="18796" y="0"/>
                    <a:pt x="42037" y="0"/>
                  </a:cubicBezTo>
                  <a:lnTo>
                    <a:pt x="110363" y="0"/>
                  </a:lnTo>
                  <a:cubicBezTo>
                    <a:pt x="133604" y="0"/>
                    <a:pt x="152400" y="18796"/>
                    <a:pt x="152400" y="42037"/>
                  </a:cubicBezTo>
                  <a:lnTo>
                    <a:pt x="152400" y="2719578"/>
                  </a:lnTo>
                  <a:cubicBezTo>
                    <a:pt x="152400" y="2742819"/>
                    <a:pt x="133604" y="2761615"/>
                    <a:pt x="110363" y="2761615"/>
                  </a:cubicBezTo>
                  <a:lnTo>
                    <a:pt x="42037" y="2761615"/>
                  </a:lnTo>
                  <a:cubicBezTo>
                    <a:pt x="18796" y="2761615"/>
                    <a:pt x="0" y="2742819"/>
                    <a:pt x="0" y="2719578"/>
                  </a:cubicBezTo>
                  <a:close/>
                </a:path>
              </a:pathLst>
            </a:custGeom>
            <a:solidFill>
              <a:srgbClr val="325F7B"/>
            </a:solidFill>
          </p:spPr>
        </p:sp>
      </p:grpSp>
      <p:sp>
        <p:nvSpPr>
          <p:cNvPr id="21" name="TextBox 21"/>
          <p:cNvSpPr txBox="1"/>
          <p:nvPr/>
        </p:nvSpPr>
        <p:spPr>
          <a:xfrm>
            <a:off x="1305963" y="7674026"/>
            <a:ext cx="2628748" cy="337985"/>
          </a:xfrm>
          <a:prstGeom prst="rect">
            <a:avLst/>
          </a:prstGeom>
        </p:spPr>
        <p:txBody>
          <a:bodyPr lIns="0" tIns="0" rIns="0" bIns="0" rtlCol="0" anchor="t">
            <a:spAutoFit/>
          </a:bodyPr>
          <a:lstStyle/>
          <a:p>
            <a:pPr algn="l">
              <a:lnSpc>
                <a:spcPts val="2562"/>
              </a:lnSpc>
            </a:pPr>
            <a:r>
              <a:rPr lang="en-US" sz="2062" b="1">
                <a:solidFill>
                  <a:srgbClr val="2B4150"/>
                </a:solidFill>
                <a:latin typeface="Museo Moderno Bold"/>
                <a:ea typeface="Museo Moderno Bold"/>
                <a:cs typeface="Museo Moderno Bold"/>
                <a:sym typeface="Museo Moderno Bold"/>
              </a:rPr>
              <a:t>Geographic Search</a:t>
            </a:r>
          </a:p>
        </p:txBody>
      </p:sp>
      <p:sp>
        <p:nvSpPr>
          <p:cNvPr id="22" name="TextBox 22"/>
          <p:cNvSpPr txBox="1"/>
          <p:nvPr/>
        </p:nvSpPr>
        <p:spPr>
          <a:xfrm>
            <a:off x="1305963" y="8076905"/>
            <a:ext cx="3400873" cy="907256"/>
          </a:xfrm>
          <a:prstGeom prst="rect">
            <a:avLst/>
          </a:prstGeom>
        </p:spPr>
        <p:txBody>
          <a:bodyPr lIns="0" tIns="0" rIns="0" bIns="0" rtlCol="0" anchor="t">
            <a:spAutoFit/>
          </a:bodyPr>
          <a:lstStyle/>
          <a:p>
            <a:pPr algn="l">
              <a:lnSpc>
                <a:spcPts val="2250"/>
              </a:lnSpc>
            </a:pPr>
            <a:r>
              <a:rPr lang="en-US" sz="1625" dirty="0">
                <a:solidFill>
                  <a:srgbClr val="2B4150"/>
                </a:solidFill>
                <a:latin typeface="Source Sans 3"/>
                <a:ea typeface="Source Sans 3"/>
                <a:cs typeface="Source Sans 3"/>
                <a:sym typeface="Source Sans 3"/>
              </a:rPr>
              <a:t>City wise AQI lookup with autocomplete functionality for quick access to local data</a:t>
            </a:r>
          </a:p>
        </p:txBody>
      </p:sp>
      <p:grpSp>
        <p:nvGrpSpPr>
          <p:cNvPr id="23" name="Group 23"/>
          <p:cNvGrpSpPr/>
          <p:nvPr/>
        </p:nvGrpSpPr>
        <p:grpSpPr>
          <a:xfrm>
            <a:off x="5087388" y="7430395"/>
            <a:ext cx="3992909" cy="2099815"/>
            <a:chOff x="0" y="0"/>
            <a:chExt cx="5323878" cy="2799753"/>
          </a:xfrm>
        </p:grpSpPr>
        <p:sp>
          <p:nvSpPr>
            <p:cNvPr id="24" name="Freeform 24"/>
            <p:cNvSpPr/>
            <p:nvPr/>
          </p:nvSpPr>
          <p:spPr>
            <a:xfrm>
              <a:off x="19050" y="19050"/>
              <a:ext cx="5285740" cy="2761615"/>
            </a:xfrm>
            <a:custGeom>
              <a:avLst/>
              <a:gdLst/>
              <a:ahLst/>
              <a:cxnLst/>
              <a:rect l="l" t="t" r="r" b="b"/>
              <a:pathLst>
                <a:path w="5285740" h="2761615">
                  <a:moveTo>
                    <a:pt x="0" y="182880"/>
                  </a:moveTo>
                  <a:cubicBezTo>
                    <a:pt x="0" y="81915"/>
                    <a:pt x="82423" y="0"/>
                    <a:pt x="184023" y="0"/>
                  </a:cubicBezTo>
                  <a:lnTo>
                    <a:pt x="5101717" y="0"/>
                  </a:lnTo>
                  <a:cubicBezTo>
                    <a:pt x="5203317" y="0"/>
                    <a:pt x="5285740" y="81915"/>
                    <a:pt x="5285740" y="182880"/>
                  </a:cubicBezTo>
                  <a:lnTo>
                    <a:pt x="5285740" y="2578735"/>
                  </a:lnTo>
                  <a:cubicBezTo>
                    <a:pt x="5285740" y="2679700"/>
                    <a:pt x="5203317" y="2761615"/>
                    <a:pt x="5101717" y="2761615"/>
                  </a:cubicBezTo>
                  <a:lnTo>
                    <a:pt x="184023" y="2761615"/>
                  </a:lnTo>
                  <a:cubicBezTo>
                    <a:pt x="82423" y="2761615"/>
                    <a:pt x="0" y="2679700"/>
                    <a:pt x="0" y="2578735"/>
                  </a:cubicBezTo>
                  <a:close/>
                </a:path>
              </a:pathLst>
            </a:custGeom>
            <a:solidFill>
              <a:srgbClr val="FFFCF5"/>
            </a:solidFill>
          </p:spPr>
        </p:sp>
        <p:sp>
          <p:nvSpPr>
            <p:cNvPr id="25" name="Freeform 25"/>
            <p:cNvSpPr/>
            <p:nvPr/>
          </p:nvSpPr>
          <p:spPr>
            <a:xfrm>
              <a:off x="0" y="0"/>
              <a:ext cx="5323840" cy="2799715"/>
            </a:xfrm>
            <a:custGeom>
              <a:avLst/>
              <a:gdLst/>
              <a:ahLst/>
              <a:cxnLst/>
              <a:rect l="l" t="t" r="r" b="b"/>
              <a:pathLst>
                <a:path w="5323840" h="2799715">
                  <a:moveTo>
                    <a:pt x="0" y="201930"/>
                  </a:moveTo>
                  <a:cubicBezTo>
                    <a:pt x="0" y="90297"/>
                    <a:pt x="91059" y="0"/>
                    <a:pt x="203073" y="0"/>
                  </a:cubicBezTo>
                  <a:lnTo>
                    <a:pt x="5120767" y="0"/>
                  </a:lnTo>
                  <a:lnTo>
                    <a:pt x="5120767" y="19050"/>
                  </a:lnTo>
                  <a:lnTo>
                    <a:pt x="5120767" y="0"/>
                  </a:lnTo>
                  <a:cubicBezTo>
                    <a:pt x="5232781" y="0"/>
                    <a:pt x="5323840" y="90297"/>
                    <a:pt x="5323840" y="201930"/>
                  </a:cubicBezTo>
                  <a:lnTo>
                    <a:pt x="5304790" y="201930"/>
                  </a:lnTo>
                  <a:lnTo>
                    <a:pt x="5323840" y="201930"/>
                  </a:lnTo>
                  <a:lnTo>
                    <a:pt x="5323840" y="2597785"/>
                  </a:lnTo>
                  <a:lnTo>
                    <a:pt x="5304790" y="2597785"/>
                  </a:lnTo>
                  <a:lnTo>
                    <a:pt x="5323840" y="2597785"/>
                  </a:lnTo>
                  <a:cubicBezTo>
                    <a:pt x="5323840" y="2709418"/>
                    <a:pt x="5232781" y="2799715"/>
                    <a:pt x="5120767" y="2799715"/>
                  </a:cubicBezTo>
                  <a:lnTo>
                    <a:pt x="5120767" y="2780665"/>
                  </a:lnTo>
                  <a:lnTo>
                    <a:pt x="5120767" y="2799715"/>
                  </a:lnTo>
                  <a:lnTo>
                    <a:pt x="203073" y="2799715"/>
                  </a:lnTo>
                  <a:lnTo>
                    <a:pt x="203073" y="2780665"/>
                  </a:lnTo>
                  <a:lnTo>
                    <a:pt x="203073" y="2799715"/>
                  </a:lnTo>
                  <a:cubicBezTo>
                    <a:pt x="91059" y="2799715"/>
                    <a:pt x="0" y="2709418"/>
                    <a:pt x="0" y="2597785"/>
                  </a:cubicBezTo>
                  <a:lnTo>
                    <a:pt x="0" y="201930"/>
                  </a:lnTo>
                  <a:lnTo>
                    <a:pt x="19050" y="201930"/>
                  </a:lnTo>
                  <a:lnTo>
                    <a:pt x="0" y="201930"/>
                  </a:lnTo>
                  <a:moveTo>
                    <a:pt x="38100" y="201930"/>
                  </a:moveTo>
                  <a:lnTo>
                    <a:pt x="38100" y="2597785"/>
                  </a:lnTo>
                  <a:lnTo>
                    <a:pt x="19050" y="2597785"/>
                  </a:lnTo>
                  <a:lnTo>
                    <a:pt x="38100" y="2597785"/>
                  </a:lnTo>
                  <a:cubicBezTo>
                    <a:pt x="38100" y="2688209"/>
                    <a:pt x="111887" y="2761615"/>
                    <a:pt x="203073" y="2761615"/>
                  </a:cubicBezTo>
                  <a:lnTo>
                    <a:pt x="5120767" y="2761615"/>
                  </a:lnTo>
                  <a:cubicBezTo>
                    <a:pt x="5212080" y="2761615"/>
                    <a:pt x="5285740" y="2688209"/>
                    <a:pt x="5285740" y="2597785"/>
                  </a:cubicBezTo>
                  <a:lnTo>
                    <a:pt x="5285740" y="201930"/>
                  </a:lnTo>
                  <a:cubicBezTo>
                    <a:pt x="5285740" y="111506"/>
                    <a:pt x="5211953" y="38100"/>
                    <a:pt x="5120767" y="38100"/>
                  </a:cubicBezTo>
                  <a:lnTo>
                    <a:pt x="203073" y="38100"/>
                  </a:lnTo>
                  <a:lnTo>
                    <a:pt x="203073" y="19050"/>
                  </a:lnTo>
                  <a:lnTo>
                    <a:pt x="203073" y="38100"/>
                  </a:lnTo>
                  <a:cubicBezTo>
                    <a:pt x="111887" y="38100"/>
                    <a:pt x="38100" y="111506"/>
                    <a:pt x="38100" y="201930"/>
                  </a:cubicBezTo>
                  <a:close/>
                </a:path>
              </a:pathLst>
            </a:custGeom>
            <a:solidFill>
              <a:srgbClr val="D9D4C9"/>
            </a:solidFill>
          </p:spPr>
        </p:sp>
      </p:grpSp>
      <p:grpSp>
        <p:nvGrpSpPr>
          <p:cNvPr id="26" name="Group 26"/>
          <p:cNvGrpSpPr/>
          <p:nvPr/>
        </p:nvGrpSpPr>
        <p:grpSpPr>
          <a:xfrm>
            <a:off x="5073101" y="7444683"/>
            <a:ext cx="114300" cy="2071240"/>
            <a:chOff x="0" y="0"/>
            <a:chExt cx="152400" cy="2761653"/>
          </a:xfrm>
        </p:grpSpPr>
        <p:sp>
          <p:nvSpPr>
            <p:cNvPr id="27" name="Freeform 27"/>
            <p:cNvSpPr/>
            <p:nvPr/>
          </p:nvSpPr>
          <p:spPr>
            <a:xfrm>
              <a:off x="0" y="0"/>
              <a:ext cx="152400" cy="2761615"/>
            </a:xfrm>
            <a:custGeom>
              <a:avLst/>
              <a:gdLst/>
              <a:ahLst/>
              <a:cxnLst/>
              <a:rect l="l" t="t" r="r" b="b"/>
              <a:pathLst>
                <a:path w="152400" h="2761615">
                  <a:moveTo>
                    <a:pt x="0" y="42037"/>
                  </a:moveTo>
                  <a:cubicBezTo>
                    <a:pt x="0" y="18796"/>
                    <a:pt x="18796" y="0"/>
                    <a:pt x="42037" y="0"/>
                  </a:cubicBezTo>
                  <a:lnTo>
                    <a:pt x="110363" y="0"/>
                  </a:lnTo>
                  <a:cubicBezTo>
                    <a:pt x="133604" y="0"/>
                    <a:pt x="152400" y="18796"/>
                    <a:pt x="152400" y="42037"/>
                  </a:cubicBezTo>
                  <a:lnTo>
                    <a:pt x="152400" y="2719578"/>
                  </a:lnTo>
                  <a:cubicBezTo>
                    <a:pt x="152400" y="2742819"/>
                    <a:pt x="133604" y="2761615"/>
                    <a:pt x="110363" y="2761615"/>
                  </a:cubicBezTo>
                  <a:lnTo>
                    <a:pt x="42037" y="2761615"/>
                  </a:lnTo>
                  <a:cubicBezTo>
                    <a:pt x="18796" y="2761615"/>
                    <a:pt x="0" y="2742819"/>
                    <a:pt x="0" y="2719578"/>
                  </a:cubicBezTo>
                  <a:close/>
                </a:path>
              </a:pathLst>
            </a:custGeom>
            <a:solidFill>
              <a:srgbClr val="325F7B"/>
            </a:solidFill>
          </p:spPr>
        </p:sp>
      </p:grpSp>
      <p:sp>
        <p:nvSpPr>
          <p:cNvPr id="28" name="TextBox 28"/>
          <p:cNvSpPr txBox="1"/>
          <p:nvPr/>
        </p:nvSpPr>
        <p:spPr>
          <a:xfrm>
            <a:off x="5426278" y="7674026"/>
            <a:ext cx="2995041" cy="337985"/>
          </a:xfrm>
          <a:prstGeom prst="rect">
            <a:avLst/>
          </a:prstGeom>
        </p:spPr>
        <p:txBody>
          <a:bodyPr wrap="square" lIns="0" tIns="0" rIns="0" bIns="0" rtlCol="0" anchor="t">
            <a:spAutoFit/>
          </a:bodyPr>
          <a:lstStyle/>
          <a:p>
            <a:pPr algn="l">
              <a:lnSpc>
                <a:spcPts val="2562"/>
              </a:lnSpc>
            </a:pPr>
            <a:r>
              <a:rPr lang="en-US" sz="2062" b="1" dirty="0">
                <a:solidFill>
                  <a:srgbClr val="2B4150"/>
                </a:solidFill>
                <a:latin typeface="Museo Moderno Bold"/>
                <a:ea typeface="Museo Moderno Bold"/>
                <a:cs typeface="Museo Moderno Bold"/>
                <a:sym typeface="Museo Moderno Bold"/>
              </a:rPr>
              <a:t>Color-Coded Indicators</a:t>
            </a:r>
          </a:p>
        </p:txBody>
      </p:sp>
      <p:sp>
        <p:nvSpPr>
          <p:cNvPr id="29" name="TextBox 29"/>
          <p:cNvSpPr txBox="1"/>
          <p:nvPr/>
        </p:nvSpPr>
        <p:spPr>
          <a:xfrm>
            <a:off x="5426278" y="8076905"/>
            <a:ext cx="3400873" cy="907256"/>
          </a:xfrm>
          <a:prstGeom prst="rect">
            <a:avLst/>
          </a:prstGeom>
        </p:spPr>
        <p:txBody>
          <a:bodyPr lIns="0" tIns="0" rIns="0" bIns="0" rtlCol="0" anchor="t">
            <a:spAutoFit/>
          </a:bodyPr>
          <a:lstStyle/>
          <a:p>
            <a:pPr algn="l">
              <a:lnSpc>
                <a:spcPts val="2250"/>
              </a:lnSpc>
            </a:pPr>
            <a:r>
              <a:rPr lang="en-US" sz="1625">
                <a:solidFill>
                  <a:srgbClr val="2B4150"/>
                </a:solidFill>
                <a:latin typeface="Source Sans 3"/>
                <a:ea typeface="Source Sans 3"/>
                <a:cs typeface="Source Sans 3"/>
                <a:sym typeface="Source Sans 3"/>
              </a:rPr>
              <a:t>Standardized AQI color scheme (green to maroon) instantly communicates air quality severity levels</a:t>
            </a:r>
          </a:p>
        </p:txBody>
      </p:sp>
      <p:grpSp>
        <p:nvGrpSpPr>
          <p:cNvPr id="30" name="Group 30"/>
          <p:cNvGrpSpPr/>
          <p:nvPr/>
        </p:nvGrpSpPr>
        <p:grpSpPr>
          <a:xfrm>
            <a:off x="9207684" y="7412523"/>
            <a:ext cx="3992909" cy="2099815"/>
            <a:chOff x="0" y="0"/>
            <a:chExt cx="5323878" cy="2799753"/>
          </a:xfrm>
        </p:grpSpPr>
        <p:sp>
          <p:nvSpPr>
            <p:cNvPr id="31" name="Freeform 31"/>
            <p:cNvSpPr/>
            <p:nvPr/>
          </p:nvSpPr>
          <p:spPr>
            <a:xfrm>
              <a:off x="19050" y="19050"/>
              <a:ext cx="5285740" cy="2761615"/>
            </a:xfrm>
            <a:custGeom>
              <a:avLst/>
              <a:gdLst/>
              <a:ahLst/>
              <a:cxnLst/>
              <a:rect l="l" t="t" r="r" b="b"/>
              <a:pathLst>
                <a:path w="5285740" h="2761615">
                  <a:moveTo>
                    <a:pt x="0" y="182880"/>
                  </a:moveTo>
                  <a:cubicBezTo>
                    <a:pt x="0" y="81915"/>
                    <a:pt x="82423" y="0"/>
                    <a:pt x="184023" y="0"/>
                  </a:cubicBezTo>
                  <a:lnTo>
                    <a:pt x="5101717" y="0"/>
                  </a:lnTo>
                  <a:cubicBezTo>
                    <a:pt x="5203317" y="0"/>
                    <a:pt x="5285740" y="81915"/>
                    <a:pt x="5285740" y="182880"/>
                  </a:cubicBezTo>
                  <a:lnTo>
                    <a:pt x="5285740" y="2578735"/>
                  </a:lnTo>
                  <a:cubicBezTo>
                    <a:pt x="5285740" y="2679700"/>
                    <a:pt x="5203317" y="2761615"/>
                    <a:pt x="5101717" y="2761615"/>
                  </a:cubicBezTo>
                  <a:lnTo>
                    <a:pt x="184023" y="2761615"/>
                  </a:lnTo>
                  <a:cubicBezTo>
                    <a:pt x="82423" y="2761615"/>
                    <a:pt x="0" y="2679700"/>
                    <a:pt x="0" y="2578735"/>
                  </a:cubicBezTo>
                  <a:close/>
                </a:path>
              </a:pathLst>
            </a:custGeom>
            <a:solidFill>
              <a:srgbClr val="FFFCF5"/>
            </a:solidFill>
          </p:spPr>
        </p:sp>
        <p:sp>
          <p:nvSpPr>
            <p:cNvPr id="32" name="Freeform 32"/>
            <p:cNvSpPr/>
            <p:nvPr/>
          </p:nvSpPr>
          <p:spPr>
            <a:xfrm>
              <a:off x="0" y="0"/>
              <a:ext cx="5323840" cy="2799715"/>
            </a:xfrm>
            <a:custGeom>
              <a:avLst/>
              <a:gdLst/>
              <a:ahLst/>
              <a:cxnLst/>
              <a:rect l="l" t="t" r="r" b="b"/>
              <a:pathLst>
                <a:path w="5323840" h="2799715">
                  <a:moveTo>
                    <a:pt x="0" y="201930"/>
                  </a:moveTo>
                  <a:cubicBezTo>
                    <a:pt x="0" y="90297"/>
                    <a:pt x="91059" y="0"/>
                    <a:pt x="203073" y="0"/>
                  </a:cubicBezTo>
                  <a:lnTo>
                    <a:pt x="5120767" y="0"/>
                  </a:lnTo>
                  <a:lnTo>
                    <a:pt x="5120767" y="19050"/>
                  </a:lnTo>
                  <a:lnTo>
                    <a:pt x="5120767" y="0"/>
                  </a:lnTo>
                  <a:cubicBezTo>
                    <a:pt x="5232781" y="0"/>
                    <a:pt x="5323840" y="90297"/>
                    <a:pt x="5323840" y="201930"/>
                  </a:cubicBezTo>
                  <a:lnTo>
                    <a:pt x="5304790" y="201930"/>
                  </a:lnTo>
                  <a:lnTo>
                    <a:pt x="5323840" y="201930"/>
                  </a:lnTo>
                  <a:lnTo>
                    <a:pt x="5323840" y="2597785"/>
                  </a:lnTo>
                  <a:lnTo>
                    <a:pt x="5304790" y="2597785"/>
                  </a:lnTo>
                  <a:lnTo>
                    <a:pt x="5323840" y="2597785"/>
                  </a:lnTo>
                  <a:cubicBezTo>
                    <a:pt x="5323840" y="2709418"/>
                    <a:pt x="5232781" y="2799715"/>
                    <a:pt x="5120767" y="2799715"/>
                  </a:cubicBezTo>
                  <a:lnTo>
                    <a:pt x="5120767" y="2780665"/>
                  </a:lnTo>
                  <a:lnTo>
                    <a:pt x="5120767" y="2799715"/>
                  </a:lnTo>
                  <a:lnTo>
                    <a:pt x="203073" y="2799715"/>
                  </a:lnTo>
                  <a:lnTo>
                    <a:pt x="203073" y="2780665"/>
                  </a:lnTo>
                  <a:lnTo>
                    <a:pt x="203073" y="2799715"/>
                  </a:lnTo>
                  <a:cubicBezTo>
                    <a:pt x="91059" y="2799715"/>
                    <a:pt x="0" y="2709418"/>
                    <a:pt x="0" y="2597785"/>
                  </a:cubicBezTo>
                  <a:lnTo>
                    <a:pt x="0" y="201930"/>
                  </a:lnTo>
                  <a:lnTo>
                    <a:pt x="19050" y="201930"/>
                  </a:lnTo>
                  <a:lnTo>
                    <a:pt x="0" y="201930"/>
                  </a:lnTo>
                  <a:moveTo>
                    <a:pt x="38100" y="201930"/>
                  </a:moveTo>
                  <a:lnTo>
                    <a:pt x="38100" y="2597785"/>
                  </a:lnTo>
                  <a:lnTo>
                    <a:pt x="19050" y="2597785"/>
                  </a:lnTo>
                  <a:lnTo>
                    <a:pt x="38100" y="2597785"/>
                  </a:lnTo>
                  <a:cubicBezTo>
                    <a:pt x="38100" y="2688209"/>
                    <a:pt x="111887" y="2761615"/>
                    <a:pt x="203073" y="2761615"/>
                  </a:cubicBezTo>
                  <a:lnTo>
                    <a:pt x="5120767" y="2761615"/>
                  </a:lnTo>
                  <a:cubicBezTo>
                    <a:pt x="5212080" y="2761615"/>
                    <a:pt x="5285740" y="2688209"/>
                    <a:pt x="5285740" y="2597785"/>
                  </a:cubicBezTo>
                  <a:lnTo>
                    <a:pt x="5285740" y="201930"/>
                  </a:lnTo>
                  <a:cubicBezTo>
                    <a:pt x="5285740" y="111506"/>
                    <a:pt x="5211953" y="38100"/>
                    <a:pt x="5120767" y="38100"/>
                  </a:cubicBezTo>
                  <a:lnTo>
                    <a:pt x="203073" y="38100"/>
                  </a:lnTo>
                  <a:lnTo>
                    <a:pt x="203073" y="19050"/>
                  </a:lnTo>
                  <a:lnTo>
                    <a:pt x="203073" y="38100"/>
                  </a:lnTo>
                  <a:cubicBezTo>
                    <a:pt x="111887" y="38100"/>
                    <a:pt x="38100" y="111506"/>
                    <a:pt x="38100" y="201930"/>
                  </a:cubicBezTo>
                  <a:close/>
                </a:path>
              </a:pathLst>
            </a:custGeom>
            <a:solidFill>
              <a:srgbClr val="D9D4C9"/>
            </a:solidFill>
          </p:spPr>
        </p:sp>
      </p:grpSp>
      <p:grpSp>
        <p:nvGrpSpPr>
          <p:cNvPr id="33" name="Group 33"/>
          <p:cNvGrpSpPr/>
          <p:nvPr/>
        </p:nvGrpSpPr>
        <p:grpSpPr>
          <a:xfrm>
            <a:off x="9193416" y="7444683"/>
            <a:ext cx="114300" cy="2071240"/>
            <a:chOff x="0" y="0"/>
            <a:chExt cx="152400" cy="2761653"/>
          </a:xfrm>
        </p:grpSpPr>
        <p:sp>
          <p:nvSpPr>
            <p:cNvPr id="34" name="Freeform 34"/>
            <p:cNvSpPr/>
            <p:nvPr/>
          </p:nvSpPr>
          <p:spPr>
            <a:xfrm>
              <a:off x="0" y="0"/>
              <a:ext cx="152400" cy="2761615"/>
            </a:xfrm>
            <a:custGeom>
              <a:avLst/>
              <a:gdLst/>
              <a:ahLst/>
              <a:cxnLst/>
              <a:rect l="l" t="t" r="r" b="b"/>
              <a:pathLst>
                <a:path w="152400" h="2761615">
                  <a:moveTo>
                    <a:pt x="0" y="42037"/>
                  </a:moveTo>
                  <a:cubicBezTo>
                    <a:pt x="0" y="18796"/>
                    <a:pt x="18796" y="0"/>
                    <a:pt x="42037" y="0"/>
                  </a:cubicBezTo>
                  <a:lnTo>
                    <a:pt x="110363" y="0"/>
                  </a:lnTo>
                  <a:cubicBezTo>
                    <a:pt x="133604" y="0"/>
                    <a:pt x="152400" y="18796"/>
                    <a:pt x="152400" y="42037"/>
                  </a:cubicBezTo>
                  <a:lnTo>
                    <a:pt x="152400" y="2719578"/>
                  </a:lnTo>
                  <a:cubicBezTo>
                    <a:pt x="152400" y="2742819"/>
                    <a:pt x="133604" y="2761615"/>
                    <a:pt x="110363" y="2761615"/>
                  </a:cubicBezTo>
                  <a:lnTo>
                    <a:pt x="42037" y="2761615"/>
                  </a:lnTo>
                  <a:cubicBezTo>
                    <a:pt x="18796" y="2761615"/>
                    <a:pt x="0" y="2742819"/>
                    <a:pt x="0" y="2719578"/>
                  </a:cubicBezTo>
                  <a:close/>
                </a:path>
              </a:pathLst>
            </a:custGeom>
            <a:solidFill>
              <a:srgbClr val="325F7B"/>
            </a:solidFill>
          </p:spPr>
        </p:sp>
      </p:grpSp>
      <p:sp>
        <p:nvSpPr>
          <p:cNvPr id="35" name="TextBox 35"/>
          <p:cNvSpPr txBox="1"/>
          <p:nvPr/>
        </p:nvSpPr>
        <p:spPr>
          <a:xfrm>
            <a:off x="9546584" y="7674026"/>
            <a:ext cx="3004860" cy="337985"/>
          </a:xfrm>
          <a:prstGeom prst="rect">
            <a:avLst/>
          </a:prstGeom>
        </p:spPr>
        <p:txBody>
          <a:bodyPr wrap="square" lIns="0" tIns="0" rIns="0" bIns="0" rtlCol="0" anchor="t">
            <a:spAutoFit/>
          </a:bodyPr>
          <a:lstStyle/>
          <a:p>
            <a:pPr algn="l">
              <a:lnSpc>
                <a:spcPts val="2562"/>
              </a:lnSpc>
            </a:pPr>
            <a:r>
              <a:rPr lang="en-US" sz="2062" b="1" dirty="0">
                <a:solidFill>
                  <a:srgbClr val="2B4150"/>
                </a:solidFill>
                <a:latin typeface="Museo Moderno Bold"/>
                <a:ea typeface="Museo Moderno Bold"/>
                <a:cs typeface="Museo Moderno Bold"/>
                <a:sym typeface="Museo Moderno Bold"/>
              </a:rPr>
              <a:t>Pollutant Breakdown</a:t>
            </a:r>
          </a:p>
        </p:txBody>
      </p:sp>
      <p:sp>
        <p:nvSpPr>
          <p:cNvPr id="36" name="TextBox 36"/>
          <p:cNvSpPr txBox="1"/>
          <p:nvPr/>
        </p:nvSpPr>
        <p:spPr>
          <a:xfrm>
            <a:off x="9546584" y="8076905"/>
            <a:ext cx="3400873" cy="907256"/>
          </a:xfrm>
          <a:prstGeom prst="rect">
            <a:avLst/>
          </a:prstGeom>
        </p:spPr>
        <p:txBody>
          <a:bodyPr lIns="0" tIns="0" rIns="0" bIns="0" rtlCol="0" anchor="t">
            <a:spAutoFit/>
          </a:bodyPr>
          <a:lstStyle/>
          <a:p>
            <a:pPr algn="l">
              <a:lnSpc>
                <a:spcPts val="2250"/>
              </a:lnSpc>
            </a:pPr>
            <a:r>
              <a:rPr lang="en-US" sz="1625">
                <a:solidFill>
                  <a:srgbClr val="2B4150"/>
                </a:solidFill>
                <a:latin typeface="Source Sans 3"/>
                <a:ea typeface="Source Sans 3"/>
                <a:cs typeface="Source Sans 3"/>
                <a:sym typeface="Source Sans 3"/>
              </a:rPr>
              <a:t>Detailed PM2.5 and PM10 measurements with trend analysis and historical comparisons</a:t>
            </a:r>
          </a:p>
        </p:txBody>
      </p:sp>
      <p:grpSp>
        <p:nvGrpSpPr>
          <p:cNvPr id="37" name="Group 37"/>
          <p:cNvGrpSpPr/>
          <p:nvPr/>
        </p:nvGrpSpPr>
        <p:grpSpPr>
          <a:xfrm>
            <a:off x="13328009" y="7430395"/>
            <a:ext cx="3992909" cy="2099815"/>
            <a:chOff x="0" y="0"/>
            <a:chExt cx="5323878" cy="2799753"/>
          </a:xfrm>
        </p:grpSpPr>
        <p:sp>
          <p:nvSpPr>
            <p:cNvPr id="38" name="Freeform 38"/>
            <p:cNvSpPr/>
            <p:nvPr/>
          </p:nvSpPr>
          <p:spPr>
            <a:xfrm>
              <a:off x="19050" y="19050"/>
              <a:ext cx="5285740" cy="2761615"/>
            </a:xfrm>
            <a:custGeom>
              <a:avLst/>
              <a:gdLst/>
              <a:ahLst/>
              <a:cxnLst/>
              <a:rect l="l" t="t" r="r" b="b"/>
              <a:pathLst>
                <a:path w="5285740" h="2761615">
                  <a:moveTo>
                    <a:pt x="0" y="182880"/>
                  </a:moveTo>
                  <a:cubicBezTo>
                    <a:pt x="0" y="81915"/>
                    <a:pt x="82423" y="0"/>
                    <a:pt x="184023" y="0"/>
                  </a:cubicBezTo>
                  <a:lnTo>
                    <a:pt x="5101717" y="0"/>
                  </a:lnTo>
                  <a:cubicBezTo>
                    <a:pt x="5203317" y="0"/>
                    <a:pt x="5285740" y="81915"/>
                    <a:pt x="5285740" y="182880"/>
                  </a:cubicBezTo>
                  <a:lnTo>
                    <a:pt x="5285740" y="2578735"/>
                  </a:lnTo>
                  <a:cubicBezTo>
                    <a:pt x="5285740" y="2679700"/>
                    <a:pt x="5203317" y="2761615"/>
                    <a:pt x="5101717" y="2761615"/>
                  </a:cubicBezTo>
                  <a:lnTo>
                    <a:pt x="184023" y="2761615"/>
                  </a:lnTo>
                  <a:cubicBezTo>
                    <a:pt x="82423" y="2761615"/>
                    <a:pt x="0" y="2679700"/>
                    <a:pt x="0" y="2578735"/>
                  </a:cubicBezTo>
                  <a:close/>
                </a:path>
              </a:pathLst>
            </a:custGeom>
            <a:solidFill>
              <a:srgbClr val="FFFCF5"/>
            </a:solidFill>
          </p:spPr>
        </p:sp>
        <p:sp>
          <p:nvSpPr>
            <p:cNvPr id="39" name="Freeform 39"/>
            <p:cNvSpPr/>
            <p:nvPr/>
          </p:nvSpPr>
          <p:spPr>
            <a:xfrm>
              <a:off x="0" y="0"/>
              <a:ext cx="5323840" cy="2799715"/>
            </a:xfrm>
            <a:custGeom>
              <a:avLst/>
              <a:gdLst/>
              <a:ahLst/>
              <a:cxnLst/>
              <a:rect l="l" t="t" r="r" b="b"/>
              <a:pathLst>
                <a:path w="5323840" h="2799715">
                  <a:moveTo>
                    <a:pt x="0" y="201930"/>
                  </a:moveTo>
                  <a:cubicBezTo>
                    <a:pt x="0" y="90297"/>
                    <a:pt x="91059" y="0"/>
                    <a:pt x="203073" y="0"/>
                  </a:cubicBezTo>
                  <a:lnTo>
                    <a:pt x="5120767" y="0"/>
                  </a:lnTo>
                  <a:lnTo>
                    <a:pt x="5120767" y="19050"/>
                  </a:lnTo>
                  <a:lnTo>
                    <a:pt x="5120767" y="0"/>
                  </a:lnTo>
                  <a:cubicBezTo>
                    <a:pt x="5232781" y="0"/>
                    <a:pt x="5323840" y="90297"/>
                    <a:pt x="5323840" y="201930"/>
                  </a:cubicBezTo>
                  <a:lnTo>
                    <a:pt x="5304790" y="201930"/>
                  </a:lnTo>
                  <a:lnTo>
                    <a:pt x="5323840" y="201930"/>
                  </a:lnTo>
                  <a:lnTo>
                    <a:pt x="5323840" y="2597785"/>
                  </a:lnTo>
                  <a:lnTo>
                    <a:pt x="5304790" y="2597785"/>
                  </a:lnTo>
                  <a:lnTo>
                    <a:pt x="5323840" y="2597785"/>
                  </a:lnTo>
                  <a:cubicBezTo>
                    <a:pt x="5323840" y="2709418"/>
                    <a:pt x="5232781" y="2799715"/>
                    <a:pt x="5120767" y="2799715"/>
                  </a:cubicBezTo>
                  <a:lnTo>
                    <a:pt x="5120767" y="2780665"/>
                  </a:lnTo>
                  <a:lnTo>
                    <a:pt x="5120767" y="2799715"/>
                  </a:lnTo>
                  <a:lnTo>
                    <a:pt x="203073" y="2799715"/>
                  </a:lnTo>
                  <a:lnTo>
                    <a:pt x="203073" y="2780665"/>
                  </a:lnTo>
                  <a:lnTo>
                    <a:pt x="203073" y="2799715"/>
                  </a:lnTo>
                  <a:cubicBezTo>
                    <a:pt x="91059" y="2799715"/>
                    <a:pt x="0" y="2709418"/>
                    <a:pt x="0" y="2597785"/>
                  </a:cubicBezTo>
                  <a:lnTo>
                    <a:pt x="0" y="201930"/>
                  </a:lnTo>
                  <a:lnTo>
                    <a:pt x="19050" y="201930"/>
                  </a:lnTo>
                  <a:lnTo>
                    <a:pt x="0" y="201930"/>
                  </a:lnTo>
                  <a:moveTo>
                    <a:pt x="38100" y="201930"/>
                  </a:moveTo>
                  <a:lnTo>
                    <a:pt x="38100" y="2597785"/>
                  </a:lnTo>
                  <a:lnTo>
                    <a:pt x="19050" y="2597785"/>
                  </a:lnTo>
                  <a:lnTo>
                    <a:pt x="38100" y="2597785"/>
                  </a:lnTo>
                  <a:cubicBezTo>
                    <a:pt x="38100" y="2688209"/>
                    <a:pt x="111887" y="2761615"/>
                    <a:pt x="203073" y="2761615"/>
                  </a:cubicBezTo>
                  <a:lnTo>
                    <a:pt x="5120767" y="2761615"/>
                  </a:lnTo>
                  <a:cubicBezTo>
                    <a:pt x="5212080" y="2761615"/>
                    <a:pt x="5285740" y="2688209"/>
                    <a:pt x="5285740" y="2597785"/>
                  </a:cubicBezTo>
                  <a:lnTo>
                    <a:pt x="5285740" y="201930"/>
                  </a:lnTo>
                  <a:cubicBezTo>
                    <a:pt x="5285740" y="111506"/>
                    <a:pt x="5211953" y="38100"/>
                    <a:pt x="5120767" y="38100"/>
                  </a:cubicBezTo>
                  <a:lnTo>
                    <a:pt x="203073" y="38100"/>
                  </a:lnTo>
                  <a:lnTo>
                    <a:pt x="203073" y="19050"/>
                  </a:lnTo>
                  <a:lnTo>
                    <a:pt x="203073" y="38100"/>
                  </a:lnTo>
                  <a:cubicBezTo>
                    <a:pt x="111887" y="38100"/>
                    <a:pt x="38100" y="111506"/>
                    <a:pt x="38100" y="201930"/>
                  </a:cubicBezTo>
                  <a:close/>
                </a:path>
              </a:pathLst>
            </a:custGeom>
            <a:solidFill>
              <a:srgbClr val="D9D4C9"/>
            </a:solidFill>
          </p:spPr>
        </p:sp>
      </p:grpSp>
      <p:grpSp>
        <p:nvGrpSpPr>
          <p:cNvPr id="40" name="Group 40"/>
          <p:cNvGrpSpPr/>
          <p:nvPr/>
        </p:nvGrpSpPr>
        <p:grpSpPr>
          <a:xfrm>
            <a:off x="13313721" y="7444683"/>
            <a:ext cx="114300" cy="2071240"/>
            <a:chOff x="0" y="0"/>
            <a:chExt cx="152400" cy="2761653"/>
          </a:xfrm>
        </p:grpSpPr>
        <p:sp>
          <p:nvSpPr>
            <p:cNvPr id="41" name="Freeform 41"/>
            <p:cNvSpPr/>
            <p:nvPr/>
          </p:nvSpPr>
          <p:spPr>
            <a:xfrm>
              <a:off x="0" y="0"/>
              <a:ext cx="152400" cy="2761615"/>
            </a:xfrm>
            <a:custGeom>
              <a:avLst/>
              <a:gdLst/>
              <a:ahLst/>
              <a:cxnLst/>
              <a:rect l="l" t="t" r="r" b="b"/>
              <a:pathLst>
                <a:path w="152400" h="2761615">
                  <a:moveTo>
                    <a:pt x="0" y="42037"/>
                  </a:moveTo>
                  <a:cubicBezTo>
                    <a:pt x="0" y="18796"/>
                    <a:pt x="18796" y="0"/>
                    <a:pt x="42037" y="0"/>
                  </a:cubicBezTo>
                  <a:lnTo>
                    <a:pt x="110363" y="0"/>
                  </a:lnTo>
                  <a:cubicBezTo>
                    <a:pt x="133604" y="0"/>
                    <a:pt x="152400" y="18796"/>
                    <a:pt x="152400" y="42037"/>
                  </a:cubicBezTo>
                  <a:lnTo>
                    <a:pt x="152400" y="2719578"/>
                  </a:lnTo>
                  <a:cubicBezTo>
                    <a:pt x="152400" y="2742819"/>
                    <a:pt x="133604" y="2761615"/>
                    <a:pt x="110363" y="2761615"/>
                  </a:cubicBezTo>
                  <a:lnTo>
                    <a:pt x="42037" y="2761615"/>
                  </a:lnTo>
                  <a:cubicBezTo>
                    <a:pt x="18796" y="2761615"/>
                    <a:pt x="0" y="2742819"/>
                    <a:pt x="0" y="2719578"/>
                  </a:cubicBezTo>
                  <a:close/>
                </a:path>
              </a:pathLst>
            </a:custGeom>
            <a:solidFill>
              <a:srgbClr val="325F7B"/>
            </a:solidFill>
          </p:spPr>
        </p:sp>
      </p:grpSp>
      <p:sp>
        <p:nvSpPr>
          <p:cNvPr id="42" name="TextBox 42"/>
          <p:cNvSpPr txBox="1"/>
          <p:nvPr/>
        </p:nvSpPr>
        <p:spPr>
          <a:xfrm>
            <a:off x="13666889" y="7674026"/>
            <a:ext cx="2628748" cy="337985"/>
          </a:xfrm>
          <a:prstGeom prst="rect">
            <a:avLst/>
          </a:prstGeom>
        </p:spPr>
        <p:txBody>
          <a:bodyPr lIns="0" tIns="0" rIns="0" bIns="0" rtlCol="0" anchor="t">
            <a:spAutoFit/>
          </a:bodyPr>
          <a:lstStyle/>
          <a:p>
            <a:pPr algn="l">
              <a:lnSpc>
                <a:spcPts val="2562"/>
              </a:lnSpc>
            </a:pPr>
            <a:r>
              <a:rPr lang="en-US" sz="2062" b="1">
                <a:solidFill>
                  <a:srgbClr val="2B4150"/>
                </a:solidFill>
                <a:latin typeface="Museo Moderno Bold"/>
                <a:ea typeface="Museo Moderno Bold"/>
                <a:cs typeface="Museo Moderno Bold"/>
                <a:sym typeface="Museo Moderno Bold"/>
              </a:rPr>
              <a:t>Interactive Charts</a:t>
            </a:r>
          </a:p>
        </p:txBody>
      </p:sp>
      <p:sp>
        <p:nvSpPr>
          <p:cNvPr id="43" name="TextBox 43"/>
          <p:cNvSpPr txBox="1"/>
          <p:nvPr/>
        </p:nvSpPr>
        <p:spPr>
          <a:xfrm>
            <a:off x="13666889" y="8076905"/>
            <a:ext cx="3400873" cy="1200150"/>
          </a:xfrm>
          <a:prstGeom prst="rect">
            <a:avLst/>
          </a:prstGeom>
        </p:spPr>
        <p:txBody>
          <a:bodyPr lIns="0" tIns="0" rIns="0" bIns="0" rtlCol="0" anchor="t">
            <a:spAutoFit/>
          </a:bodyPr>
          <a:lstStyle/>
          <a:p>
            <a:pPr algn="l">
              <a:lnSpc>
                <a:spcPts val="2250"/>
              </a:lnSpc>
            </a:pPr>
            <a:r>
              <a:rPr lang="en-US" sz="1625">
                <a:solidFill>
                  <a:srgbClr val="2B4150"/>
                </a:solidFill>
                <a:latin typeface="Source Sans 3"/>
                <a:ea typeface="Source Sans 3"/>
                <a:cs typeface="Source Sans 3"/>
                <a:sym typeface="Source Sans 3"/>
              </a:rPr>
              <a:t>Dynamic Chart.js visualizations with animated transitions revealing temporal patterns and pollutant distributions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92238" y="601468"/>
            <a:ext cx="9675762" cy="1538050"/>
          </a:xfrm>
          <a:prstGeom prst="rect">
            <a:avLst/>
          </a:prstGeom>
        </p:spPr>
        <p:txBody>
          <a:bodyPr wrap="square" lIns="0" tIns="0" rIns="0" bIns="0" rtlCol="0" anchor="t">
            <a:spAutoFit/>
          </a:bodyPr>
          <a:lstStyle/>
          <a:p>
            <a:pPr algn="l">
              <a:lnSpc>
                <a:spcPts val="5874"/>
              </a:lnSpc>
            </a:pPr>
            <a:r>
              <a:rPr lang="en-US" sz="5562" b="1" dirty="0">
                <a:solidFill>
                  <a:srgbClr val="124E73"/>
                </a:solidFill>
                <a:latin typeface="Museo Moderno Bold"/>
                <a:ea typeface="Museo Moderno Bold"/>
                <a:cs typeface="Museo Moderno Bold"/>
                <a:sym typeface="Museo Moderno Bold"/>
              </a:rPr>
              <a:t>Chatbot &amp; Voice Alert Features</a:t>
            </a:r>
          </a:p>
        </p:txBody>
      </p:sp>
      <p:grpSp>
        <p:nvGrpSpPr>
          <p:cNvPr id="11" name="Group 11"/>
          <p:cNvGrpSpPr/>
          <p:nvPr/>
        </p:nvGrpSpPr>
        <p:grpSpPr>
          <a:xfrm>
            <a:off x="992238" y="2284809"/>
            <a:ext cx="1204912" cy="1694412"/>
            <a:chOff x="0" y="0"/>
            <a:chExt cx="1606550" cy="2259216"/>
          </a:xfrm>
        </p:grpSpPr>
        <p:sp>
          <p:nvSpPr>
            <p:cNvPr id="12" name="Freeform 12" descr="preencoded.png"/>
            <p:cNvSpPr/>
            <p:nvPr/>
          </p:nvSpPr>
          <p:spPr>
            <a:xfrm>
              <a:off x="0" y="0"/>
              <a:ext cx="1606550" cy="2259203"/>
            </a:xfrm>
            <a:custGeom>
              <a:avLst/>
              <a:gdLst/>
              <a:ahLst/>
              <a:cxnLst/>
              <a:rect l="l" t="t" r="r" b="b"/>
              <a:pathLst>
                <a:path w="1606550" h="2259203">
                  <a:moveTo>
                    <a:pt x="0" y="0"/>
                  </a:moveTo>
                  <a:lnTo>
                    <a:pt x="1606550" y="0"/>
                  </a:lnTo>
                  <a:lnTo>
                    <a:pt x="1606550" y="2259203"/>
                  </a:lnTo>
                  <a:lnTo>
                    <a:pt x="0" y="2259203"/>
                  </a:lnTo>
                  <a:lnTo>
                    <a:pt x="0" y="0"/>
                  </a:lnTo>
                  <a:close/>
                </a:path>
              </a:pathLst>
            </a:custGeom>
            <a:blipFill>
              <a:blip r:embed="rId6"/>
              <a:stretch>
                <a:fillRect l="-166" r="-166"/>
              </a:stretch>
            </a:blipFill>
          </p:spPr>
        </p:sp>
      </p:grpSp>
      <p:sp>
        <p:nvSpPr>
          <p:cNvPr id="13" name="TextBox 13"/>
          <p:cNvSpPr txBox="1"/>
          <p:nvPr/>
        </p:nvSpPr>
        <p:spPr>
          <a:xfrm>
            <a:off x="2401938" y="2506713"/>
            <a:ext cx="4224490" cy="395583"/>
          </a:xfrm>
          <a:prstGeom prst="rect">
            <a:avLst/>
          </a:prstGeom>
        </p:spPr>
        <p:txBody>
          <a:bodyPr lIns="0" tIns="0" rIns="0" bIns="0" rtlCol="0" anchor="t">
            <a:spAutoFit/>
          </a:bodyPr>
          <a:lstStyle/>
          <a:p>
            <a:pPr algn="l">
              <a:lnSpc>
                <a:spcPts val="2937"/>
              </a:lnSpc>
            </a:pPr>
            <a:r>
              <a:rPr lang="en-US" sz="2312" b="1">
                <a:solidFill>
                  <a:srgbClr val="2B4150"/>
                </a:solidFill>
                <a:latin typeface="Museo Moderno Bold"/>
                <a:ea typeface="Museo Moderno Bold"/>
                <a:cs typeface="Museo Moderno Bold"/>
                <a:sym typeface="Museo Moderno Bold"/>
              </a:rPr>
              <a:t>Guided Dashboard Assistant</a:t>
            </a:r>
          </a:p>
        </p:txBody>
      </p:sp>
      <p:sp>
        <p:nvSpPr>
          <p:cNvPr id="14" name="TextBox 14"/>
          <p:cNvSpPr txBox="1"/>
          <p:nvPr/>
        </p:nvSpPr>
        <p:spPr>
          <a:xfrm>
            <a:off x="2401938" y="2977458"/>
            <a:ext cx="8035823" cy="760809"/>
          </a:xfrm>
          <a:prstGeom prst="rect">
            <a:avLst/>
          </a:prstGeom>
        </p:spPr>
        <p:txBody>
          <a:bodyPr lIns="0" tIns="0" rIns="0" bIns="0" rtlCol="0" anchor="t">
            <a:spAutoFit/>
          </a:bodyPr>
          <a:lstStyle/>
          <a:p>
            <a:pPr algn="l">
              <a:lnSpc>
                <a:spcPts val="2749"/>
              </a:lnSpc>
            </a:pPr>
            <a:r>
              <a:rPr lang="en-US" sz="1874">
                <a:solidFill>
                  <a:srgbClr val="2B4150"/>
                </a:solidFill>
                <a:latin typeface="Source Sans 3"/>
                <a:ea typeface="Source Sans 3"/>
                <a:cs typeface="Source Sans 3"/>
                <a:sym typeface="Source Sans 3"/>
              </a:rPr>
              <a:t>Interactive chatbot navigates users through AQI features, explains metrics, and answers air quality questions in conversational language.</a:t>
            </a:r>
          </a:p>
        </p:txBody>
      </p:sp>
      <p:grpSp>
        <p:nvGrpSpPr>
          <p:cNvPr id="15" name="Group 15"/>
          <p:cNvGrpSpPr/>
          <p:nvPr/>
        </p:nvGrpSpPr>
        <p:grpSpPr>
          <a:xfrm>
            <a:off x="992238" y="3979221"/>
            <a:ext cx="1204912" cy="1694412"/>
            <a:chOff x="0" y="0"/>
            <a:chExt cx="1606550" cy="2259216"/>
          </a:xfrm>
        </p:grpSpPr>
        <p:sp>
          <p:nvSpPr>
            <p:cNvPr id="16" name="Freeform 16" descr="preencoded.png"/>
            <p:cNvSpPr/>
            <p:nvPr/>
          </p:nvSpPr>
          <p:spPr>
            <a:xfrm>
              <a:off x="0" y="0"/>
              <a:ext cx="1606550" cy="2259203"/>
            </a:xfrm>
            <a:custGeom>
              <a:avLst/>
              <a:gdLst/>
              <a:ahLst/>
              <a:cxnLst/>
              <a:rect l="l" t="t" r="r" b="b"/>
              <a:pathLst>
                <a:path w="1606550" h="2259203">
                  <a:moveTo>
                    <a:pt x="0" y="0"/>
                  </a:moveTo>
                  <a:lnTo>
                    <a:pt x="1606550" y="0"/>
                  </a:lnTo>
                  <a:lnTo>
                    <a:pt x="1606550" y="2259203"/>
                  </a:lnTo>
                  <a:lnTo>
                    <a:pt x="0" y="2259203"/>
                  </a:lnTo>
                  <a:lnTo>
                    <a:pt x="0" y="0"/>
                  </a:lnTo>
                  <a:close/>
                </a:path>
              </a:pathLst>
            </a:custGeom>
            <a:blipFill>
              <a:blip r:embed="rId7"/>
              <a:stretch>
                <a:fillRect l="-166" r="-166"/>
              </a:stretch>
            </a:blipFill>
          </p:spPr>
        </p:sp>
      </p:grpSp>
      <p:sp>
        <p:nvSpPr>
          <p:cNvPr id="17" name="TextBox 17"/>
          <p:cNvSpPr txBox="1"/>
          <p:nvPr/>
        </p:nvSpPr>
        <p:spPr>
          <a:xfrm>
            <a:off x="2401938" y="4201116"/>
            <a:ext cx="3270647" cy="395583"/>
          </a:xfrm>
          <a:prstGeom prst="rect">
            <a:avLst/>
          </a:prstGeom>
        </p:spPr>
        <p:txBody>
          <a:bodyPr lIns="0" tIns="0" rIns="0" bIns="0" rtlCol="0" anchor="t">
            <a:spAutoFit/>
          </a:bodyPr>
          <a:lstStyle/>
          <a:p>
            <a:pPr algn="l">
              <a:lnSpc>
                <a:spcPts val="2937"/>
              </a:lnSpc>
            </a:pPr>
            <a:r>
              <a:rPr lang="en-US" sz="2312" b="1">
                <a:solidFill>
                  <a:srgbClr val="2B4150"/>
                </a:solidFill>
                <a:latin typeface="Museo Moderno Bold"/>
                <a:ea typeface="Museo Moderno Bold"/>
                <a:cs typeface="Museo Moderno Bold"/>
                <a:sym typeface="Museo Moderno Bold"/>
              </a:rPr>
              <a:t>Flexible Query System</a:t>
            </a:r>
          </a:p>
        </p:txBody>
      </p:sp>
      <p:sp>
        <p:nvSpPr>
          <p:cNvPr id="18" name="TextBox 18"/>
          <p:cNvSpPr txBox="1"/>
          <p:nvPr/>
        </p:nvSpPr>
        <p:spPr>
          <a:xfrm>
            <a:off x="2401938" y="4671860"/>
            <a:ext cx="8035823" cy="760809"/>
          </a:xfrm>
          <a:prstGeom prst="rect">
            <a:avLst/>
          </a:prstGeom>
        </p:spPr>
        <p:txBody>
          <a:bodyPr lIns="0" tIns="0" rIns="0" bIns="0" rtlCol="0" anchor="t">
            <a:spAutoFit/>
          </a:bodyPr>
          <a:lstStyle/>
          <a:p>
            <a:pPr algn="l">
              <a:lnSpc>
                <a:spcPts val="2749"/>
              </a:lnSpc>
            </a:pPr>
            <a:r>
              <a:rPr lang="en-US" sz="1874" dirty="0">
                <a:solidFill>
                  <a:srgbClr val="2B4150"/>
                </a:solidFill>
                <a:latin typeface="Source Sans 3"/>
                <a:ea typeface="Source Sans 3"/>
                <a:cs typeface="Source Sans 3"/>
                <a:sym typeface="Source Sans 3"/>
              </a:rPr>
              <a:t>Supports both predefined quick queries (current AQI, health tips) and free-text natural language questions for comprehensive assistance.</a:t>
            </a:r>
          </a:p>
        </p:txBody>
      </p:sp>
      <p:grpSp>
        <p:nvGrpSpPr>
          <p:cNvPr id="19" name="Group 19"/>
          <p:cNvGrpSpPr/>
          <p:nvPr/>
        </p:nvGrpSpPr>
        <p:grpSpPr>
          <a:xfrm>
            <a:off x="992238" y="5673623"/>
            <a:ext cx="1204912" cy="1694412"/>
            <a:chOff x="0" y="0"/>
            <a:chExt cx="1606550" cy="2259216"/>
          </a:xfrm>
        </p:grpSpPr>
        <p:sp>
          <p:nvSpPr>
            <p:cNvPr id="20" name="Freeform 20" descr="preencoded.png"/>
            <p:cNvSpPr/>
            <p:nvPr/>
          </p:nvSpPr>
          <p:spPr>
            <a:xfrm>
              <a:off x="0" y="0"/>
              <a:ext cx="1606550" cy="2259203"/>
            </a:xfrm>
            <a:custGeom>
              <a:avLst/>
              <a:gdLst/>
              <a:ahLst/>
              <a:cxnLst/>
              <a:rect l="l" t="t" r="r" b="b"/>
              <a:pathLst>
                <a:path w="1606550" h="2259203">
                  <a:moveTo>
                    <a:pt x="0" y="0"/>
                  </a:moveTo>
                  <a:lnTo>
                    <a:pt x="1606550" y="0"/>
                  </a:lnTo>
                  <a:lnTo>
                    <a:pt x="1606550" y="2259203"/>
                  </a:lnTo>
                  <a:lnTo>
                    <a:pt x="0" y="2259203"/>
                  </a:lnTo>
                  <a:lnTo>
                    <a:pt x="0" y="0"/>
                  </a:lnTo>
                  <a:close/>
                </a:path>
              </a:pathLst>
            </a:custGeom>
            <a:blipFill>
              <a:blip r:embed="rId8"/>
              <a:stretch>
                <a:fillRect l="-166" r="-166"/>
              </a:stretch>
            </a:blipFill>
          </p:spPr>
        </p:sp>
      </p:grpSp>
      <p:sp>
        <p:nvSpPr>
          <p:cNvPr id="21" name="TextBox 21"/>
          <p:cNvSpPr txBox="1"/>
          <p:nvPr/>
        </p:nvSpPr>
        <p:spPr>
          <a:xfrm>
            <a:off x="2401938" y="5895527"/>
            <a:ext cx="3374231" cy="395583"/>
          </a:xfrm>
          <a:prstGeom prst="rect">
            <a:avLst/>
          </a:prstGeom>
        </p:spPr>
        <p:txBody>
          <a:bodyPr lIns="0" tIns="0" rIns="0" bIns="0" rtlCol="0" anchor="t">
            <a:spAutoFit/>
          </a:bodyPr>
          <a:lstStyle/>
          <a:p>
            <a:pPr algn="l">
              <a:lnSpc>
                <a:spcPts val="2937"/>
              </a:lnSpc>
            </a:pPr>
            <a:r>
              <a:rPr lang="en-US" sz="2312" b="1">
                <a:solidFill>
                  <a:srgbClr val="2B4150"/>
                </a:solidFill>
                <a:latin typeface="Museo Moderno Bold"/>
                <a:ea typeface="Museo Moderno Bold"/>
                <a:cs typeface="Museo Moderno Bold"/>
                <a:sym typeface="Museo Moderno Bold"/>
              </a:rPr>
              <a:t>Explainable Responses</a:t>
            </a:r>
          </a:p>
        </p:txBody>
      </p:sp>
      <p:sp>
        <p:nvSpPr>
          <p:cNvPr id="22" name="TextBox 22"/>
          <p:cNvSpPr txBox="1"/>
          <p:nvPr/>
        </p:nvSpPr>
        <p:spPr>
          <a:xfrm>
            <a:off x="2401938" y="6366272"/>
            <a:ext cx="8035823" cy="760809"/>
          </a:xfrm>
          <a:prstGeom prst="rect">
            <a:avLst/>
          </a:prstGeom>
        </p:spPr>
        <p:txBody>
          <a:bodyPr lIns="0" tIns="0" rIns="0" bIns="0" rtlCol="0" anchor="t">
            <a:spAutoFit/>
          </a:bodyPr>
          <a:lstStyle/>
          <a:p>
            <a:pPr algn="l">
              <a:lnSpc>
                <a:spcPts val="2749"/>
              </a:lnSpc>
            </a:pPr>
            <a:r>
              <a:rPr lang="en-US" sz="1874">
                <a:solidFill>
                  <a:srgbClr val="2B4150"/>
                </a:solidFill>
                <a:latin typeface="Source Sans 3"/>
                <a:ea typeface="Source Sans 3"/>
                <a:cs typeface="Source Sans 3"/>
                <a:sym typeface="Source Sans 3"/>
              </a:rPr>
              <a:t>Rule-based logic ensures transparent, accurate answers with clear reasoning behind health recommendations and safety guidelines.</a:t>
            </a:r>
          </a:p>
        </p:txBody>
      </p:sp>
      <p:grpSp>
        <p:nvGrpSpPr>
          <p:cNvPr id="23" name="Group 23"/>
          <p:cNvGrpSpPr/>
          <p:nvPr/>
        </p:nvGrpSpPr>
        <p:grpSpPr>
          <a:xfrm>
            <a:off x="992238" y="7368035"/>
            <a:ext cx="1204912" cy="1694412"/>
            <a:chOff x="0" y="0"/>
            <a:chExt cx="1606550" cy="2259216"/>
          </a:xfrm>
        </p:grpSpPr>
        <p:sp>
          <p:nvSpPr>
            <p:cNvPr id="24" name="Freeform 24" descr="preencoded.png"/>
            <p:cNvSpPr/>
            <p:nvPr/>
          </p:nvSpPr>
          <p:spPr>
            <a:xfrm>
              <a:off x="0" y="0"/>
              <a:ext cx="1606550" cy="2259203"/>
            </a:xfrm>
            <a:custGeom>
              <a:avLst/>
              <a:gdLst/>
              <a:ahLst/>
              <a:cxnLst/>
              <a:rect l="l" t="t" r="r" b="b"/>
              <a:pathLst>
                <a:path w="1606550" h="2259203">
                  <a:moveTo>
                    <a:pt x="0" y="0"/>
                  </a:moveTo>
                  <a:lnTo>
                    <a:pt x="1606550" y="0"/>
                  </a:lnTo>
                  <a:lnTo>
                    <a:pt x="1606550" y="2259203"/>
                  </a:lnTo>
                  <a:lnTo>
                    <a:pt x="0" y="2259203"/>
                  </a:lnTo>
                  <a:lnTo>
                    <a:pt x="0" y="0"/>
                  </a:lnTo>
                  <a:close/>
                </a:path>
              </a:pathLst>
            </a:custGeom>
            <a:blipFill>
              <a:blip r:embed="rId9"/>
              <a:stretch>
                <a:fillRect l="-166" r="-166"/>
              </a:stretch>
            </a:blipFill>
          </p:spPr>
        </p:sp>
      </p:grpSp>
      <p:sp>
        <p:nvSpPr>
          <p:cNvPr id="25" name="TextBox 25"/>
          <p:cNvSpPr txBox="1"/>
          <p:nvPr/>
        </p:nvSpPr>
        <p:spPr>
          <a:xfrm>
            <a:off x="2401938" y="7589939"/>
            <a:ext cx="3012434" cy="395583"/>
          </a:xfrm>
          <a:prstGeom prst="rect">
            <a:avLst/>
          </a:prstGeom>
        </p:spPr>
        <p:txBody>
          <a:bodyPr lIns="0" tIns="0" rIns="0" bIns="0" rtlCol="0" anchor="t">
            <a:spAutoFit/>
          </a:bodyPr>
          <a:lstStyle/>
          <a:p>
            <a:pPr algn="l">
              <a:lnSpc>
                <a:spcPts val="2937"/>
              </a:lnSpc>
            </a:pPr>
            <a:r>
              <a:rPr lang="en-US" sz="2312" b="1">
                <a:solidFill>
                  <a:srgbClr val="2B4150"/>
                </a:solidFill>
                <a:latin typeface="Museo Moderno Bold"/>
                <a:ea typeface="Museo Moderno Bold"/>
                <a:cs typeface="Museo Moderno Bold"/>
                <a:sym typeface="Museo Moderno Bold"/>
              </a:rPr>
              <a:t>Voice Alerts</a:t>
            </a:r>
          </a:p>
        </p:txBody>
      </p:sp>
      <p:sp>
        <p:nvSpPr>
          <p:cNvPr id="26" name="TextBox 26"/>
          <p:cNvSpPr txBox="1"/>
          <p:nvPr/>
        </p:nvSpPr>
        <p:spPr>
          <a:xfrm>
            <a:off x="2401938" y="8060684"/>
            <a:ext cx="8035823" cy="760809"/>
          </a:xfrm>
          <a:prstGeom prst="rect">
            <a:avLst/>
          </a:prstGeom>
        </p:spPr>
        <p:txBody>
          <a:bodyPr lIns="0" tIns="0" rIns="0" bIns="0" rtlCol="0" anchor="t">
            <a:spAutoFit/>
          </a:bodyPr>
          <a:lstStyle/>
          <a:p>
            <a:pPr algn="l">
              <a:lnSpc>
                <a:spcPts val="2749"/>
              </a:lnSpc>
            </a:pPr>
            <a:r>
              <a:rPr lang="en-US" sz="1874">
                <a:solidFill>
                  <a:srgbClr val="2B4150"/>
                </a:solidFill>
                <a:latin typeface="Source Sans 3"/>
                <a:ea typeface="Source Sans 3"/>
                <a:cs typeface="Source Sans 3"/>
                <a:sym typeface="Source Sans 3"/>
              </a:rPr>
              <a:t>Audio notifications warn users of hazardous AQI levels, improving accessibility for visually impaired users and enabling hands-free operation.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992238" y="1207218"/>
            <a:ext cx="2151012" cy="538763"/>
            <a:chOff x="0" y="0"/>
            <a:chExt cx="2868016" cy="718350"/>
          </a:xfrm>
        </p:grpSpPr>
        <p:sp>
          <p:nvSpPr>
            <p:cNvPr id="7" name="Freeform 7"/>
            <p:cNvSpPr/>
            <p:nvPr/>
          </p:nvSpPr>
          <p:spPr>
            <a:xfrm>
              <a:off x="0" y="0"/>
              <a:ext cx="2868041" cy="718312"/>
            </a:xfrm>
            <a:custGeom>
              <a:avLst/>
              <a:gdLst/>
              <a:ahLst/>
              <a:cxnLst/>
              <a:rect l="l" t="t" r="r" b="b"/>
              <a:pathLst>
                <a:path w="2868041" h="718312">
                  <a:moveTo>
                    <a:pt x="0" y="50165"/>
                  </a:moveTo>
                  <a:cubicBezTo>
                    <a:pt x="0" y="22479"/>
                    <a:pt x="22479" y="0"/>
                    <a:pt x="50165" y="0"/>
                  </a:cubicBezTo>
                  <a:lnTo>
                    <a:pt x="2817876" y="0"/>
                  </a:lnTo>
                  <a:cubicBezTo>
                    <a:pt x="2845562" y="0"/>
                    <a:pt x="2868041" y="22479"/>
                    <a:pt x="2868041" y="50165"/>
                  </a:cubicBezTo>
                  <a:lnTo>
                    <a:pt x="2868041" y="668147"/>
                  </a:lnTo>
                  <a:cubicBezTo>
                    <a:pt x="2868041" y="695833"/>
                    <a:pt x="2845562" y="718312"/>
                    <a:pt x="2817876" y="718312"/>
                  </a:cubicBezTo>
                  <a:lnTo>
                    <a:pt x="50165" y="718312"/>
                  </a:lnTo>
                  <a:cubicBezTo>
                    <a:pt x="22479" y="718312"/>
                    <a:pt x="0" y="695833"/>
                    <a:pt x="0" y="668147"/>
                  </a:cubicBezTo>
                  <a:close/>
                </a:path>
              </a:pathLst>
            </a:custGeom>
            <a:solidFill>
              <a:srgbClr val="DBE8F0"/>
            </a:solidFill>
          </p:spPr>
        </p:sp>
      </p:grpSp>
      <p:sp>
        <p:nvSpPr>
          <p:cNvPr id="8" name="Freeform 8" descr="preencoded.png"/>
          <p:cNvSpPr/>
          <p:nvPr/>
        </p:nvSpPr>
        <p:spPr>
          <a:xfrm>
            <a:off x="1119778" y="1297781"/>
            <a:ext cx="357635" cy="357635"/>
          </a:xfrm>
          <a:custGeom>
            <a:avLst/>
            <a:gdLst/>
            <a:ahLst/>
            <a:cxnLst/>
            <a:rect l="l" t="t" r="r" b="b"/>
            <a:pathLst>
              <a:path w="357635" h="357635">
                <a:moveTo>
                  <a:pt x="0" y="0"/>
                </a:moveTo>
                <a:lnTo>
                  <a:pt x="357635" y="0"/>
                </a:lnTo>
                <a:lnTo>
                  <a:pt x="357635" y="357635"/>
                </a:lnTo>
                <a:lnTo>
                  <a:pt x="0" y="3576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992238" y="1959769"/>
            <a:ext cx="8456562" cy="714106"/>
          </a:xfrm>
          <a:prstGeom prst="rect">
            <a:avLst/>
          </a:prstGeom>
        </p:spPr>
        <p:txBody>
          <a:bodyPr wrap="square" lIns="0" tIns="0" rIns="0" bIns="0" rtlCol="0" anchor="t">
            <a:spAutoFit/>
          </a:bodyPr>
          <a:lstStyle/>
          <a:p>
            <a:pPr algn="l">
              <a:lnSpc>
                <a:spcPts val="5187"/>
              </a:lnSpc>
            </a:pPr>
            <a:r>
              <a:rPr lang="en-US" sz="5562" b="1" dirty="0">
                <a:solidFill>
                  <a:srgbClr val="124E73"/>
                </a:solidFill>
                <a:latin typeface="Museo Moderno Bold"/>
                <a:ea typeface="Museo Moderno Bold"/>
                <a:cs typeface="Museo Moderno Bold"/>
                <a:sym typeface="Museo Moderno Bold"/>
              </a:rPr>
              <a:t>News &amp; Blog Module</a:t>
            </a:r>
          </a:p>
        </p:txBody>
      </p:sp>
      <p:grpSp>
        <p:nvGrpSpPr>
          <p:cNvPr id="10" name="Group 10"/>
          <p:cNvGrpSpPr/>
          <p:nvPr/>
        </p:nvGrpSpPr>
        <p:grpSpPr>
          <a:xfrm>
            <a:off x="2294182" y="3596583"/>
            <a:ext cx="7811691" cy="4426591"/>
            <a:chOff x="0" y="0"/>
            <a:chExt cx="10415588" cy="5902122"/>
          </a:xfrm>
        </p:grpSpPr>
        <p:sp>
          <p:nvSpPr>
            <p:cNvPr id="11" name="Freeform 11" descr="preencoded.png"/>
            <p:cNvSpPr/>
            <p:nvPr/>
          </p:nvSpPr>
          <p:spPr>
            <a:xfrm>
              <a:off x="0" y="0"/>
              <a:ext cx="10415651" cy="5902071"/>
            </a:xfrm>
            <a:custGeom>
              <a:avLst/>
              <a:gdLst/>
              <a:ahLst/>
              <a:cxnLst/>
              <a:rect l="l" t="t" r="r" b="b"/>
              <a:pathLst>
                <a:path w="10415651" h="5902071">
                  <a:moveTo>
                    <a:pt x="0" y="0"/>
                  </a:moveTo>
                  <a:lnTo>
                    <a:pt x="10415651" y="0"/>
                  </a:lnTo>
                  <a:lnTo>
                    <a:pt x="10415651" y="5902071"/>
                  </a:lnTo>
                  <a:lnTo>
                    <a:pt x="0" y="5902071"/>
                  </a:lnTo>
                  <a:lnTo>
                    <a:pt x="0" y="0"/>
                  </a:lnTo>
                  <a:close/>
                </a:path>
              </a:pathLst>
            </a:custGeom>
            <a:blipFill>
              <a:blip r:embed="rId5"/>
              <a:stretch>
                <a:fillRect t="-36" b="-37"/>
              </a:stretch>
            </a:blipFill>
          </p:spPr>
        </p:sp>
      </p:grpSp>
      <p:sp>
        <p:nvSpPr>
          <p:cNvPr id="12" name="TextBox 12"/>
          <p:cNvSpPr txBox="1"/>
          <p:nvPr/>
        </p:nvSpPr>
        <p:spPr>
          <a:xfrm>
            <a:off x="11936168" y="2870444"/>
            <a:ext cx="5368976" cy="806653"/>
          </a:xfrm>
          <a:prstGeom prst="rect">
            <a:avLst/>
          </a:prstGeom>
        </p:spPr>
        <p:txBody>
          <a:bodyPr lIns="0" tIns="0" rIns="0" bIns="0" rtlCol="0" anchor="t">
            <a:spAutoFit/>
          </a:bodyPr>
          <a:lstStyle/>
          <a:p>
            <a:pPr algn="l">
              <a:lnSpc>
                <a:spcPts val="3124"/>
              </a:lnSpc>
            </a:pPr>
            <a:r>
              <a:rPr lang="en-US" sz="2499" b="1">
                <a:solidFill>
                  <a:srgbClr val="124E73"/>
                </a:solidFill>
                <a:latin typeface="Museo Moderno Bold"/>
                <a:ea typeface="Museo Moderno Bold"/>
                <a:cs typeface="Museo Moderno Bold"/>
                <a:sym typeface="Museo Moderno Bold"/>
              </a:rPr>
              <a:t>Knowledge Hub for Air Quality Awareness</a:t>
            </a:r>
          </a:p>
        </p:txBody>
      </p:sp>
      <p:sp>
        <p:nvSpPr>
          <p:cNvPr id="13" name="TextBox 13"/>
          <p:cNvSpPr txBox="1"/>
          <p:nvPr/>
        </p:nvSpPr>
        <p:spPr>
          <a:xfrm>
            <a:off x="11936168" y="3798389"/>
            <a:ext cx="5368976" cy="884858"/>
          </a:xfrm>
          <a:prstGeom prst="rect">
            <a:avLst/>
          </a:prstGeom>
        </p:spPr>
        <p:txBody>
          <a:bodyPr lIns="0" tIns="0" rIns="0" bIns="0" rtlCol="0" anchor="t">
            <a:spAutoFit/>
          </a:bodyPr>
          <a:lstStyle/>
          <a:p>
            <a:pPr algn="l">
              <a:lnSpc>
                <a:spcPts val="2312"/>
              </a:lnSpc>
            </a:pPr>
            <a:r>
              <a:rPr lang="en-US" dirty="0">
                <a:solidFill>
                  <a:srgbClr val="2B4150"/>
                </a:solidFill>
                <a:latin typeface="Source Sans 3"/>
                <a:ea typeface="Source Sans 3"/>
                <a:cs typeface="Source Sans 3"/>
                <a:sym typeface="Source Sans 3"/>
              </a:rPr>
              <a:t>The blog module serves as a comprehensive educational resource, translating scientific research into actionable insights for diverse audiences</a:t>
            </a:r>
            <a:r>
              <a:rPr lang="en-US" sz="1625" dirty="0">
                <a:solidFill>
                  <a:srgbClr val="2B4150"/>
                </a:solidFill>
                <a:latin typeface="Source Sans 3"/>
                <a:ea typeface="Source Sans 3"/>
                <a:cs typeface="Source Sans 3"/>
                <a:sym typeface="Source Sans 3"/>
              </a:rPr>
              <a:t>.</a:t>
            </a:r>
          </a:p>
        </p:txBody>
      </p:sp>
      <p:sp>
        <p:nvSpPr>
          <p:cNvPr id="14" name="TextBox 14"/>
          <p:cNvSpPr txBox="1"/>
          <p:nvPr/>
        </p:nvSpPr>
        <p:spPr>
          <a:xfrm>
            <a:off x="11936168" y="4824422"/>
            <a:ext cx="5368976" cy="3015215"/>
          </a:xfrm>
          <a:prstGeom prst="rect">
            <a:avLst/>
          </a:prstGeom>
        </p:spPr>
        <p:txBody>
          <a:bodyPr lIns="0" tIns="0" rIns="0" bIns="0" rtlCol="0" anchor="t">
            <a:spAutoFit/>
          </a:bodyPr>
          <a:lstStyle/>
          <a:p>
            <a:pPr marL="245070" lvl="1" indent="-122535" algn="l">
              <a:lnSpc>
                <a:spcPts val="2312"/>
              </a:lnSpc>
              <a:buFont typeface="Arial"/>
              <a:buChar char="•"/>
            </a:pPr>
            <a:r>
              <a:rPr lang="en-US" b="1" dirty="0">
                <a:solidFill>
                  <a:srgbClr val="2B4150"/>
                </a:solidFill>
                <a:latin typeface="Source Sans 3 Bold"/>
                <a:ea typeface="Source Sans 3 Bold"/>
                <a:cs typeface="Source Sans 3 Bold"/>
                <a:sym typeface="Source Sans 3 Bold"/>
              </a:rPr>
              <a:t>AQI Fundamentals:</a:t>
            </a:r>
            <a:r>
              <a:rPr lang="en-US" dirty="0">
                <a:solidFill>
                  <a:srgbClr val="2B4150"/>
                </a:solidFill>
                <a:latin typeface="Source Sans 3"/>
                <a:ea typeface="Source Sans 3"/>
                <a:cs typeface="Source Sans 3"/>
                <a:sym typeface="Source Sans 3"/>
              </a:rPr>
              <a:t> Clear explanations of pollutants, measurement standards, and index calculations</a:t>
            </a:r>
          </a:p>
          <a:p>
            <a:pPr marL="245070" lvl="1" indent="-122535" algn="l">
              <a:lnSpc>
                <a:spcPts val="2312"/>
              </a:lnSpc>
              <a:buFont typeface="Arial"/>
              <a:buChar char="•"/>
            </a:pPr>
            <a:r>
              <a:rPr lang="en-US" b="1" dirty="0">
                <a:solidFill>
                  <a:srgbClr val="2B4150"/>
                </a:solidFill>
                <a:latin typeface="Source Sans 3 Bold"/>
                <a:ea typeface="Source Sans 3 Bold"/>
                <a:cs typeface="Source Sans 3 Bold"/>
                <a:sym typeface="Source Sans 3 Bold"/>
              </a:rPr>
              <a:t>Health Impact Analysis:</a:t>
            </a:r>
            <a:r>
              <a:rPr lang="en-US" dirty="0">
                <a:solidFill>
                  <a:srgbClr val="2B4150"/>
                </a:solidFill>
                <a:latin typeface="Source Sans 3"/>
                <a:ea typeface="Source Sans 3"/>
                <a:cs typeface="Source Sans 3"/>
                <a:sym typeface="Source Sans 3"/>
              </a:rPr>
              <a:t> Evidence-based articles on respiratory effects, cardiovascular risks, and vulnerable populations</a:t>
            </a:r>
          </a:p>
          <a:p>
            <a:pPr marL="245070" lvl="1" indent="-122535" algn="l">
              <a:lnSpc>
                <a:spcPts val="2312"/>
              </a:lnSpc>
              <a:buFont typeface="Arial"/>
              <a:buChar char="•"/>
            </a:pPr>
            <a:r>
              <a:rPr lang="en-US" b="1" dirty="0">
                <a:solidFill>
                  <a:srgbClr val="2B4150"/>
                </a:solidFill>
                <a:latin typeface="Source Sans 3 Bold"/>
                <a:ea typeface="Source Sans 3 Bold"/>
                <a:cs typeface="Source Sans 3 Bold"/>
                <a:sym typeface="Source Sans 3 Bold"/>
              </a:rPr>
              <a:t>Prevention Strategies:</a:t>
            </a:r>
            <a:r>
              <a:rPr lang="en-US" dirty="0">
                <a:solidFill>
                  <a:srgbClr val="2B4150"/>
                </a:solidFill>
                <a:latin typeface="Source Sans 3"/>
                <a:ea typeface="Source Sans 3"/>
                <a:cs typeface="Source Sans 3"/>
                <a:sym typeface="Source Sans 3"/>
              </a:rPr>
              <a:t> Practical guidance on air purifiers, masks, indoor air quality, and lifestyle adjustments</a:t>
            </a:r>
          </a:p>
          <a:p>
            <a:pPr marL="245070" lvl="1" indent="-122535" algn="l">
              <a:lnSpc>
                <a:spcPts val="2312"/>
              </a:lnSpc>
              <a:buFont typeface="Arial"/>
              <a:buChar char="•"/>
            </a:pPr>
            <a:r>
              <a:rPr lang="en-US" b="1" dirty="0">
                <a:solidFill>
                  <a:srgbClr val="2B4150"/>
                </a:solidFill>
                <a:latin typeface="Source Sans 3 Bold"/>
                <a:ea typeface="Source Sans 3 Bold"/>
                <a:cs typeface="Source Sans 3 Bold"/>
                <a:sym typeface="Source Sans 3 Bold"/>
              </a:rPr>
              <a:t>Environmental Education:</a:t>
            </a:r>
            <a:r>
              <a:rPr lang="en-US" dirty="0">
                <a:solidFill>
                  <a:srgbClr val="2B4150"/>
                </a:solidFill>
                <a:latin typeface="Source Sans 3"/>
                <a:ea typeface="Source Sans 3"/>
                <a:cs typeface="Source Sans 3"/>
                <a:sym typeface="Source Sans 3"/>
              </a:rPr>
              <a:t> Policy updates, emission sources, and community action opportunities</a:t>
            </a:r>
          </a:p>
        </p:txBody>
      </p:sp>
      <p:sp>
        <p:nvSpPr>
          <p:cNvPr id="15" name="TextBox 15"/>
          <p:cNvSpPr txBox="1"/>
          <p:nvPr/>
        </p:nvSpPr>
        <p:spPr>
          <a:xfrm>
            <a:off x="11936168" y="7955413"/>
            <a:ext cx="5368976" cy="884858"/>
          </a:xfrm>
          <a:prstGeom prst="rect">
            <a:avLst/>
          </a:prstGeom>
        </p:spPr>
        <p:txBody>
          <a:bodyPr lIns="0" tIns="0" rIns="0" bIns="0" rtlCol="0" anchor="t">
            <a:spAutoFit/>
          </a:bodyPr>
          <a:lstStyle/>
          <a:p>
            <a:pPr algn="l">
              <a:lnSpc>
                <a:spcPts val="2312"/>
              </a:lnSpc>
            </a:pPr>
            <a:r>
              <a:rPr lang="en-US" dirty="0">
                <a:solidFill>
                  <a:srgbClr val="2B4150"/>
                </a:solidFill>
                <a:latin typeface="Source Sans 3"/>
                <a:ea typeface="Source Sans 3"/>
                <a:cs typeface="Source Sans 3"/>
                <a:sym typeface="Source Sans 3"/>
              </a:rPr>
              <a:t>Content is regularly updated with peer-reviewed sources and written for accessibility across education levels.</a:t>
            </a:r>
          </a:p>
        </p:txBody>
      </p:sp>
      <p:sp>
        <p:nvSpPr>
          <p:cNvPr id="16" name="TextBox 16"/>
          <p:cNvSpPr txBox="1"/>
          <p:nvPr/>
        </p:nvSpPr>
        <p:spPr>
          <a:xfrm>
            <a:off x="1568853" y="1339558"/>
            <a:ext cx="8961120" cy="360702"/>
          </a:xfrm>
          <a:prstGeom prst="rect">
            <a:avLst/>
          </a:prstGeom>
        </p:spPr>
        <p:txBody>
          <a:bodyPr lIns="0" tIns="0" rIns="0" bIns="0" rtlCol="0" anchor="t">
            <a:spAutoFit/>
          </a:bodyPr>
          <a:lstStyle/>
          <a:p>
            <a:pPr algn="l">
              <a:lnSpc>
                <a:spcPts val="2699"/>
              </a:lnSpc>
            </a:pPr>
            <a:r>
              <a:rPr lang="en-US" sz="2249" b="1">
                <a:solidFill>
                  <a:srgbClr val="2B4150"/>
                </a:solidFill>
                <a:latin typeface="Source Sans 3 Bold"/>
                <a:ea typeface="Source Sans 3 Bold"/>
                <a:cs typeface="Source Sans 3 Bold"/>
                <a:sym typeface="Source Sans 3 Bold"/>
              </a:rPr>
              <a:t>EDUCATION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60363"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63663" y="1110255"/>
            <a:ext cx="9445523" cy="685252"/>
          </a:xfrm>
          <a:prstGeom prst="rect">
            <a:avLst/>
          </a:prstGeom>
        </p:spPr>
        <p:txBody>
          <a:bodyPr lIns="0" tIns="0" rIns="0" bIns="0" rtlCol="0" anchor="t">
            <a:spAutoFit/>
          </a:bodyPr>
          <a:lstStyle/>
          <a:p>
            <a:pPr algn="l">
              <a:lnSpc>
                <a:spcPts val="4874"/>
              </a:lnSpc>
            </a:pPr>
            <a:r>
              <a:rPr lang="en-US" sz="5562" b="1" dirty="0">
                <a:solidFill>
                  <a:srgbClr val="124E73"/>
                </a:solidFill>
                <a:latin typeface="Museo Moderno Bold"/>
                <a:ea typeface="Museo Moderno Bold"/>
                <a:cs typeface="Museo Moderno Bold"/>
                <a:sym typeface="Museo Moderno Bold"/>
              </a:rPr>
              <a:t>Conclusion:</a:t>
            </a:r>
          </a:p>
        </p:txBody>
      </p:sp>
      <p:sp>
        <p:nvSpPr>
          <p:cNvPr id="11" name="TextBox 11"/>
          <p:cNvSpPr txBox="1"/>
          <p:nvPr/>
        </p:nvSpPr>
        <p:spPr>
          <a:xfrm>
            <a:off x="963663" y="2016173"/>
            <a:ext cx="10066287" cy="3436838"/>
          </a:xfrm>
          <a:prstGeom prst="rect">
            <a:avLst/>
          </a:prstGeom>
        </p:spPr>
        <p:txBody>
          <a:bodyPr wrap="square" lIns="0" tIns="0" rIns="0" bIns="0" rtlCol="0" anchor="t">
            <a:spAutoFit/>
          </a:bodyPr>
          <a:lstStyle/>
          <a:p>
            <a:pPr algn="l">
              <a:lnSpc>
                <a:spcPts val="6687"/>
              </a:lnSpc>
            </a:pPr>
            <a:r>
              <a:rPr lang="en-US" sz="5220" dirty="0">
                <a:solidFill>
                  <a:srgbClr val="124E73"/>
                </a:solidFill>
                <a:latin typeface="Museo Moderno Medium"/>
                <a:ea typeface="Museo Moderno Medium"/>
                <a:cs typeface="Museo Moderno Medium"/>
                <a:sym typeface="Museo Moderno Medium"/>
              </a:rPr>
              <a:t>Empowering healthier communities through intelligent air quality awareness.</a:t>
            </a:r>
          </a:p>
        </p:txBody>
      </p:sp>
      <p:grpSp>
        <p:nvGrpSpPr>
          <p:cNvPr id="12" name="Group 12"/>
          <p:cNvGrpSpPr/>
          <p:nvPr/>
        </p:nvGrpSpPr>
        <p:grpSpPr>
          <a:xfrm>
            <a:off x="963663" y="5944943"/>
            <a:ext cx="57150" cy="1570434"/>
            <a:chOff x="0" y="0"/>
            <a:chExt cx="76200" cy="2093912"/>
          </a:xfrm>
        </p:grpSpPr>
        <p:sp>
          <p:nvSpPr>
            <p:cNvPr id="13" name="Freeform 13"/>
            <p:cNvSpPr/>
            <p:nvPr/>
          </p:nvSpPr>
          <p:spPr>
            <a:xfrm>
              <a:off x="0" y="0"/>
              <a:ext cx="76200" cy="2093976"/>
            </a:xfrm>
            <a:custGeom>
              <a:avLst/>
              <a:gdLst/>
              <a:ahLst/>
              <a:cxnLst/>
              <a:rect l="l" t="t" r="r" b="b"/>
              <a:pathLst>
                <a:path w="76200" h="2093976">
                  <a:moveTo>
                    <a:pt x="0" y="0"/>
                  </a:moveTo>
                  <a:lnTo>
                    <a:pt x="76200" y="0"/>
                  </a:lnTo>
                  <a:lnTo>
                    <a:pt x="76200" y="2093976"/>
                  </a:lnTo>
                  <a:lnTo>
                    <a:pt x="0" y="2093976"/>
                  </a:lnTo>
                  <a:close/>
                </a:path>
              </a:pathLst>
            </a:custGeom>
            <a:solidFill>
              <a:srgbClr val="325F7B"/>
            </a:solidFill>
          </p:spPr>
        </p:sp>
      </p:grpSp>
      <p:sp>
        <p:nvSpPr>
          <p:cNvPr id="14" name="TextBox 14"/>
          <p:cNvSpPr txBox="1"/>
          <p:nvPr/>
        </p:nvSpPr>
        <p:spPr>
          <a:xfrm>
            <a:off x="1247775" y="5944943"/>
            <a:ext cx="4380462" cy="307777"/>
          </a:xfrm>
          <a:prstGeom prst="rect">
            <a:avLst/>
          </a:prstGeom>
        </p:spPr>
        <p:txBody>
          <a:bodyPr wrap="square" lIns="0" tIns="0" rIns="0" bIns="0" rtlCol="0" anchor="t">
            <a:spAutoFit/>
          </a:bodyPr>
          <a:lstStyle/>
          <a:p>
            <a:pPr algn="l">
              <a:lnSpc>
                <a:spcPts val="2437"/>
              </a:lnSpc>
            </a:pPr>
            <a:r>
              <a:rPr lang="en-US" sz="1937" b="1" dirty="0">
                <a:solidFill>
                  <a:srgbClr val="2B4150"/>
                </a:solidFill>
                <a:latin typeface="Museo Moderno Bold"/>
                <a:ea typeface="Museo Moderno Bold"/>
                <a:cs typeface="Museo Moderno Bold"/>
                <a:sym typeface="Museo Moderno Bold"/>
              </a:rPr>
              <a:t>Bridging the Data-Knowledge Gap</a:t>
            </a:r>
          </a:p>
        </p:txBody>
      </p:sp>
      <p:sp>
        <p:nvSpPr>
          <p:cNvPr id="15" name="TextBox 15"/>
          <p:cNvSpPr txBox="1"/>
          <p:nvPr/>
        </p:nvSpPr>
        <p:spPr>
          <a:xfrm>
            <a:off x="1247775" y="6347822"/>
            <a:ext cx="4380462" cy="828970"/>
          </a:xfrm>
          <a:prstGeom prst="rect">
            <a:avLst/>
          </a:prstGeom>
        </p:spPr>
        <p:txBody>
          <a:bodyPr lIns="0" tIns="0" rIns="0" bIns="0" rtlCol="0" anchor="t">
            <a:spAutoFit/>
          </a:bodyPr>
          <a:lstStyle/>
          <a:p>
            <a:pPr algn="l">
              <a:lnSpc>
                <a:spcPts val="2125"/>
              </a:lnSpc>
            </a:pPr>
            <a:r>
              <a:rPr lang="en-US" sz="2000" dirty="0">
                <a:solidFill>
                  <a:srgbClr val="2B4150"/>
                </a:solidFill>
                <a:latin typeface="Source Sans 3"/>
                <a:ea typeface="Source Sans 3"/>
                <a:cs typeface="Source Sans 3"/>
                <a:sym typeface="Source Sans 3"/>
              </a:rPr>
              <a:t>Transforms complex AQI metrics into clear, accessible insights tailored for diverse Indian communities.</a:t>
            </a:r>
          </a:p>
        </p:txBody>
      </p:sp>
      <p:grpSp>
        <p:nvGrpSpPr>
          <p:cNvPr id="16" name="Group 16"/>
          <p:cNvGrpSpPr/>
          <p:nvPr/>
        </p:nvGrpSpPr>
        <p:grpSpPr>
          <a:xfrm>
            <a:off x="5773188" y="5944943"/>
            <a:ext cx="57150" cy="1570434"/>
            <a:chOff x="0" y="0"/>
            <a:chExt cx="76200" cy="2093912"/>
          </a:xfrm>
        </p:grpSpPr>
        <p:sp>
          <p:nvSpPr>
            <p:cNvPr id="17" name="Freeform 17"/>
            <p:cNvSpPr/>
            <p:nvPr/>
          </p:nvSpPr>
          <p:spPr>
            <a:xfrm>
              <a:off x="0" y="0"/>
              <a:ext cx="76200" cy="2093976"/>
            </a:xfrm>
            <a:custGeom>
              <a:avLst/>
              <a:gdLst/>
              <a:ahLst/>
              <a:cxnLst/>
              <a:rect l="l" t="t" r="r" b="b"/>
              <a:pathLst>
                <a:path w="76200" h="2093976">
                  <a:moveTo>
                    <a:pt x="0" y="0"/>
                  </a:moveTo>
                  <a:lnTo>
                    <a:pt x="76200" y="0"/>
                  </a:lnTo>
                  <a:lnTo>
                    <a:pt x="76200" y="2093976"/>
                  </a:lnTo>
                  <a:lnTo>
                    <a:pt x="0" y="2093976"/>
                  </a:lnTo>
                  <a:close/>
                </a:path>
              </a:pathLst>
            </a:custGeom>
            <a:solidFill>
              <a:srgbClr val="325F7B"/>
            </a:solidFill>
          </p:spPr>
        </p:sp>
      </p:grpSp>
      <p:sp>
        <p:nvSpPr>
          <p:cNvPr id="18" name="TextBox 18"/>
          <p:cNvSpPr txBox="1"/>
          <p:nvPr/>
        </p:nvSpPr>
        <p:spPr>
          <a:xfrm>
            <a:off x="6057309" y="5963993"/>
            <a:ext cx="4525413" cy="629545"/>
          </a:xfrm>
          <a:prstGeom prst="rect">
            <a:avLst/>
          </a:prstGeom>
        </p:spPr>
        <p:txBody>
          <a:bodyPr lIns="0" tIns="0" rIns="0" bIns="0" rtlCol="0" anchor="t">
            <a:spAutoFit/>
          </a:bodyPr>
          <a:lstStyle/>
          <a:p>
            <a:pPr algn="l">
              <a:lnSpc>
                <a:spcPts val="2437"/>
              </a:lnSpc>
            </a:pPr>
            <a:r>
              <a:rPr lang="en-US" sz="1937" b="1">
                <a:solidFill>
                  <a:srgbClr val="2B4150"/>
                </a:solidFill>
                <a:latin typeface="Museo Moderno Bold"/>
                <a:ea typeface="Museo Moderno Bold"/>
                <a:cs typeface="Museo Moderno Bold"/>
                <a:sym typeface="Museo Moderno Bold"/>
              </a:rPr>
              <a:t>Promoting Proactive Health &amp; Safety</a:t>
            </a:r>
          </a:p>
        </p:txBody>
      </p:sp>
      <p:sp>
        <p:nvSpPr>
          <p:cNvPr id="19" name="TextBox 19"/>
          <p:cNvSpPr txBox="1"/>
          <p:nvPr/>
        </p:nvSpPr>
        <p:spPr>
          <a:xfrm>
            <a:off x="6057309" y="6306150"/>
            <a:ext cx="4380462" cy="828970"/>
          </a:xfrm>
          <a:prstGeom prst="rect">
            <a:avLst/>
          </a:prstGeom>
        </p:spPr>
        <p:txBody>
          <a:bodyPr lIns="0" tIns="0" rIns="0" bIns="0" rtlCol="0" anchor="t">
            <a:spAutoFit/>
          </a:bodyPr>
          <a:lstStyle/>
          <a:p>
            <a:pPr algn="l">
              <a:lnSpc>
                <a:spcPts val="2125"/>
              </a:lnSpc>
            </a:pPr>
            <a:r>
              <a:rPr lang="en-US" sz="2000" dirty="0">
                <a:solidFill>
                  <a:srgbClr val="2B4150"/>
                </a:solidFill>
                <a:latin typeface="Source Sans 3"/>
                <a:ea typeface="Source Sans 3"/>
                <a:cs typeface="Source Sans 3"/>
                <a:sym typeface="Source Sans 3"/>
              </a:rPr>
              <a:t>Delivers personalized health guidance, enabling citizens to make informed decisions and protect their well-being.</a:t>
            </a:r>
          </a:p>
        </p:txBody>
      </p:sp>
      <p:grpSp>
        <p:nvGrpSpPr>
          <p:cNvPr id="20" name="Group 20"/>
          <p:cNvGrpSpPr/>
          <p:nvPr/>
        </p:nvGrpSpPr>
        <p:grpSpPr>
          <a:xfrm>
            <a:off x="963663" y="7736091"/>
            <a:ext cx="57150" cy="720481"/>
            <a:chOff x="0" y="0"/>
            <a:chExt cx="76200" cy="960641"/>
          </a:xfrm>
        </p:grpSpPr>
        <p:sp>
          <p:nvSpPr>
            <p:cNvPr id="21" name="Freeform 21"/>
            <p:cNvSpPr/>
            <p:nvPr/>
          </p:nvSpPr>
          <p:spPr>
            <a:xfrm>
              <a:off x="0" y="0"/>
              <a:ext cx="76200" cy="960628"/>
            </a:xfrm>
            <a:custGeom>
              <a:avLst/>
              <a:gdLst/>
              <a:ahLst/>
              <a:cxnLst/>
              <a:rect l="l" t="t" r="r" b="b"/>
              <a:pathLst>
                <a:path w="76200" h="960628">
                  <a:moveTo>
                    <a:pt x="0" y="0"/>
                  </a:moveTo>
                  <a:lnTo>
                    <a:pt x="76200" y="0"/>
                  </a:lnTo>
                  <a:lnTo>
                    <a:pt x="76200" y="960628"/>
                  </a:lnTo>
                  <a:lnTo>
                    <a:pt x="0" y="960628"/>
                  </a:lnTo>
                  <a:close/>
                </a:path>
              </a:pathLst>
            </a:custGeom>
            <a:solidFill>
              <a:srgbClr val="325F7B"/>
            </a:solidFill>
          </p:spPr>
        </p:sp>
      </p:grpSp>
      <p:sp>
        <p:nvSpPr>
          <p:cNvPr id="22" name="TextBox 22"/>
          <p:cNvSpPr txBox="1"/>
          <p:nvPr/>
        </p:nvSpPr>
        <p:spPr>
          <a:xfrm>
            <a:off x="1247775" y="7766899"/>
            <a:ext cx="4809534" cy="307777"/>
          </a:xfrm>
          <a:prstGeom prst="rect">
            <a:avLst/>
          </a:prstGeom>
        </p:spPr>
        <p:txBody>
          <a:bodyPr wrap="square" lIns="0" tIns="0" rIns="0" bIns="0" rtlCol="0" anchor="t">
            <a:spAutoFit/>
          </a:bodyPr>
          <a:lstStyle/>
          <a:p>
            <a:pPr algn="l">
              <a:lnSpc>
                <a:spcPts val="2437"/>
              </a:lnSpc>
            </a:pPr>
            <a:r>
              <a:rPr lang="en-US" sz="1937" b="1" dirty="0">
                <a:solidFill>
                  <a:srgbClr val="2B4150"/>
                </a:solidFill>
                <a:latin typeface="Museo Moderno Bold"/>
                <a:ea typeface="Museo Moderno Bold"/>
                <a:cs typeface="Museo Moderno Bold"/>
                <a:sym typeface="Museo Moderno Bold"/>
              </a:rPr>
              <a:t>Fostering Environmental Stewardship</a:t>
            </a:r>
          </a:p>
        </p:txBody>
      </p:sp>
      <p:sp>
        <p:nvSpPr>
          <p:cNvPr id="23" name="TextBox 23"/>
          <p:cNvSpPr txBox="1"/>
          <p:nvPr/>
        </p:nvSpPr>
        <p:spPr>
          <a:xfrm>
            <a:off x="1247775" y="8138960"/>
            <a:ext cx="9189987" cy="271228"/>
          </a:xfrm>
          <a:prstGeom prst="rect">
            <a:avLst/>
          </a:prstGeom>
        </p:spPr>
        <p:txBody>
          <a:bodyPr lIns="0" tIns="0" rIns="0" bIns="0" rtlCol="0" anchor="t">
            <a:spAutoFit/>
          </a:bodyPr>
          <a:lstStyle/>
          <a:p>
            <a:pPr algn="l">
              <a:lnSpc>
                <a:spcPts val="2125"/>
              </a:lnSpc>
            </a:pPr>
            <a:r>
              <a:rPr lang="en-US" dirty="0">
                <a:solidFill>
                  <a:srgbClr val="2B4150"/>
                </a:solidFill>
                <a:latin typeface="Source Sans 3"/>
                <a:ea typeface="Source Sans 3"/>
                <a:cs typeface="Source Sans 3"/>
                <a:sym typeface="Source Sans 3"/>
              </a:rPr>
              <a:t>Elevates public awareness, inspiring collective action and advocacy for a cleaner, greener future.</a:t>
            </a:r>
          </a:p>
        </p:txBody>
      </p:sp>
      <p:sp>
        <p:nvSpPr>
          <p:cNvPr id="24" name="TextBox 24"/>
          <p:cNvSpPr txBox="1"/>
          <p:nvPr/>
        </p:nvSpPr>
        <p:spPr>
          <a:xfrm>
            <a:off x="992238" y="8565204"/>
            <a:ext cx="9445523" cy="1086836"/>
          </a:xfrm>
          <a:prstGeom prst="rect">
            <a:avLst/>
          </a:prstGeom>
        </p:spPr>
        <p:txBody>
          <a:bodyPr lIns="0" tIns="0" rIns="0" bIns="0" rtlCol="0" anchor="t">
            <a:spAutoFit/>
          </a:bodyPr>
          <a:lstStyle/>
          <a:p>
            <a:pPr algn="l">
              <a:lnSpc>
                <a:spcPts val="2125"/>
              </a:lnSpc>
            </a:pPr>
            <a:r>
              <a:rPr lang="en-US" sz="2000" dirty="0">
                <a:solidFill>
                  <a:srgbClr val="2B4150"/>
                </a:solidFill>
                <a:latin typeface="Source Sans 3"/>
                <a:ea typeface="Source Sans 3"/>
                <a:cs typeface="Source Sans 3"/>
                <a:sym typeface="Source Sans 3"/>
              </a:rPr>
              <a:t>The AIR AWARE platform is more than just a dashboard; it's a vital tool in India's journey towards environmental consciousness. By providing intelligent, actionable insights, it drives proactive health management and inspires collective action for a sustainable tomorrow.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0738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CF5"/>
            </a:solidFill>
          </p:spPr>
          <p:txBody>
            <a:bodyPr/>
            <a:lstStyle/>
            <a:p>
              <a:endParaRPr lang="en-IN" dirty="0"/>
            </a:p>
          </p:txBody>
        </p:sp>
      </p:grpSp>
      <p:sp>
        <p:nvSpPr>
          <p:cNvPr id="6" name="TextBox 6"/>
          <p:cNvSpPr txBox="1"/>
          <p:nvPr/>
        </p:nvSpPr>
        <p:spPr>
          <a:xfrm>
            <a:off x="4191000" y="5143500"/>
            <a:ext cx="9906000" cy="1038746"/>
          </a:xfrm>
          <a:prstGeom prst="rect">
            <a:avLst/>
          </a:prstGeom>
        </p:spPr>
        <p:txBody>
          <a:bodyPr wrap="square" lIns="0" tIns="0" rIns="0" bIns="0" rtlCol="0" anchor="t">
            <a:spAutoFit/>
          </a:bodyPr>
          <a:lstStyle/>
          <a:p>
            <a:pPr algn="ctr">
              <a:lnSpc>
                <a:spcPts val="6000"/>
              </a:lnSpc>
            </a:pPr>
            <a:r>
              <a:rPr lang="en-US" sz="12000" b="1" dirty="0">
                <a:solidFill>
                  <a:srgbClr val="124E73"/>
                </a:solidFill>
                <a:latin typeface="Museo Moderno Bold"/>
                <a:ea typeface="Museo Moderno Bold"/>
                <a:cs typeface="Museo Moderno Bold"/>
                <a:sym typeface="Museo Modern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874</Words>
  <Application>Microsoft Office PowerPoint</Application>
  <PresentationFormat>Custom</PresentationFormat>
  <Paragraphs>143</Paragraphs>
  <Slides>13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Source Sans 3</vt:lpstr>
      <vt:lpstr>Museo Moderno Medium</vt:lpstr>
      <vt:lpstr>Source Sans 3 Bold</vt:lpstr>
      <vt:lpstr>Arial</vt:lpstr>
      <vt:lpstr>Calibri</vt:lpstr>
      <vt:lpstr>Museo Moderno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AIR-AWARE-Intelligent-Air-Quality-Awareness-Dashboard (1).pptx</dc:title>
  <cp:lastModifiedBy>Het Patel</cp:lastModifiedBy>
  <cp:revision>8</cp:revision>
  <dcterms:created xsi:type="dcterms:W3CDTF">2006-08-16T00:00:00Z</dcterms:created>
  <dcterms:modified xsi:type="dcterms:W3CDTF">2026-02-13T03:02:44Z</dcterms:modified>
  <dc:identifier>DAHBABr7oHU</dc:identifier>
</cp:coreProperties>
</file>